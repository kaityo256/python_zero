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6"/>
  </p:notesMasterIdLst>
  <p:sldIdLst>
    <p:sldId id="256" r:id="rId2"/>
    <p:sldId id="309" r:id="rId3"/>
    <p:sldId id="332" r:id="rId4"/>
    <p:sldId id="313" r:id="rId5"/>
    <p:sldId id="310" r:id="rId6"/>
    <p:sldId id="311" r:id="rId7"/>
    <p:sldId id="312" r:id="rId8"/>
    <p:sldId id="350" r:id="rId9"/>
    <p:sldId id="351" r:id="rId10"/>
    <p:sldId id="314" r:id="rId11"/>
    <p:sldId id="315" r:id="rId12"/>
    <p:sldId id="316" r:id="rId13"/>
    <p:sldId id="318" r:id="rId14"/>
    <p:sldId id="319" r:id="rId15"/>
    <p:sldId id="320" r:id="rId16"/>
    <p:sldId id="321" r:id="rId17"/>
    <p:sldId id="323" r:id="rId18"/>
    <p:sldId id="322" r:id="rId19"/>
    <p:sldId id="324" r:id="rId20"/>
    <p:sldId id="325" r:id="rId21"/>
    <p:sldId id="326" r:id="rId22"/>
    <p:sldId id="327" r:id="rId23"/>
    <p:sldId id="328" r:id="rId24"/>
    <p:sldId id="329" r:id="rId25"/>
    <p:sldId id="330" r:id="rId26"/>
    <p:sldId id="339" r:id="rId27"/>
    <p:sldId id="335" r:id="rId28"/>
    <p:sldId id="331" r:id="rId29"/>
    <p:sldId id="334" r:id="rId30"/>
    <p:sldId id="337" r:id="rId31"/>
    <p:sldId id="338" r:id="rId32"/>
    <p:sldId id="336" r:id="rId33"/>
    <p:sldId id="340" r:id="rId34"/>
    <p:sldId id="352" r:id="rId3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1893"/>
    <a:srgbClr val="EBACEC"/>
    <a:srgbClr val="FF8AD8"/>
    <a:srgbClr val="00000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91" autoAdjust="0"/>
    <p:restoredTop sz="88991" autoAdjust="0"/>
  </p:normalViewPr>
  <p:slideViewPr>
    <p:cSldViewPr>
      <p:cViewPr varScale="1">
        <p:scale>
          <a:sx n="98" d="100"/>
          <a:sy n="98" d="100"/>
        </p:scale>
        <p:origin x="1162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268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2024/12/24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FA746F-AF1F-C048-A2ED-B38EF01E9631}" type="slidenum">
              <a:rPr lang="en-US" altLang="ja-JP" smtClean="0"/>
              <a:t>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25794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6" name="円/楕円 3">
            <a:extLst>
              <a:ext uri="{FF2B5EF4-FFF2-40B4-BE49-F238E27FC236}">
                <a16:creationId xmlns:a16="http://schemas.microsoft.com/office/drawing/2014/main" id="{62720309-65C5-41BF-98A1-7A47D79D2002}"/>
              </a:ext>
            </a:extLst>
          </p:cNvPr>
          <p:cNvSpPr/>
          <p:nvPr userDrawn="1"/>
        </p:nvSpPr>
        <p:spPr>
          <a:xfrm>
            <a:off x="8532440" y="6237312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7C1355-65CA-4881-ADA5-6333D5D013C4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9" name="弦 8">
            <a:extLst>
              <a:ext uri="{FF2B5EF4-FFF2-40B4-BE49-F238E27FC236}">
                <a16:creationId xmlns:a16="http://schemas.microsoft.com/office/drawing/2014/main" id="{D828B449-775E-4D97-B441-E482AEC1678C}"/>
              </a:ext>
            </a:extLst>
          </p:cNvPr>
          <p:cNvSpPr/>
          <p:nvPr userDrawn="1"/>
        </p:nvSpPr>
        <p:spPr>
          <a:xfrm rot="15300000">
            <a:off x="8520720" y="6221077"/>
            <a:ext cx="565274" cy="565274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8F86F266-382E-4ACC-AD3B-0DFCAE899E1C}"/>
              </a:ext>
            </a:extLst>
          </p:cNvPr>
          <p:cNvSpPr txBox="1"/>
          <p:nvPr userDrawn="1"/>
        </p:nvSpPr>
        <p:spPr>
          <a:xfrm>
            <a:off x="8717320" y="6437838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1400" dirty="0"/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tiff"/><Relationship Id="rId3" Type="http://schemas.openxmlformats.org/officeDocument/2006/relationships/image" Target="../media/image3.tiff"/><Relationship Id="rId7" Type="http://schemas.openxmlformats.org/officeDocument/2006/relationships/image" Target="../media/image7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image" Target="../media/image3.tiff"/><Relationship Id="rId7" Type="http://schemas.openxmlformats.org/officeDocument/2006/relationships/image" Target="../media/image8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Relationship Id="rId9" Type="http://schemas.openxmlformats.org/officeDocument/2006/relationships/image" Target="../media/image10.tif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tiff"/><Relationship Id="rId3" Type="http://schemas.openxmlformats.org/officeDocument/2006/relationships/image" Target="../media/image3.tiff"/><Relationship Id="rId7" Type="http://schemas.openxmlformats.org/officeDocument/2006/relationships/image" Target="../media/image8.tiff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tiff"/><Relationship Id="rId5" Type="http://schemas.openxmlformats.org/officeDocument/2006/relationships/image" Target="../media/image5.tiff"/><Relationship Id="rId4" Type="http://schemas.openxmlformats.org/officeDocument/2006/relationships/image" Target="../media/image4.tiff"/><Relationship Id="rId9" Type="http://schemas.openxmlformats.org/officeDocument/2006/relationships/image" Target="../media/image11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iff"/><Relationship Id="rId2" Type="http://schemas.openxmlformats.org/officeDocument/2006/relationships/image" Target="../media/image12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tiff"/><Relationship Id="rId5" Type="http://schemas.openxmlformats.org/officeDocument/2006/relationships/image" Target="../media/image15.tiff"/><Relationship Id="rId4" Type="http://schemas.openxmlformats.org/officeDocument/2006/relationships/image" Target="../media/image14.tif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tiff"/><Relationship Id="rId5" Type="http://schemas.openxmlformats.org/officeDocument/2006/relationships/image" Target="../media/image20.tiff"/><Relationship Id="rId4" Type="http://schemas.openxmlformats.org/officeDocument/2006/relationships/image" Target="../media/image19.tif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tiff"/><Relationship Id="rId4" Type="http://schemas.openxmlformats.org/officeDocument/2006/relationships/image" Target="../media/image2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2" Type="http://schemas.openxmlformats.org/officeDocument/2006/relationships/image" Target="../media/image20.tif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tif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iff"/><Relationship Id="rId2" Type="http://schemas.openxmlformats.org/officeDocument/2006/relationships/image" Target="../media/image25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tiff"/><Relationship Id="rId5" Type="http://schemas.openxmlformats.org/officeDocument/2006/relationships/image" Target="../media/image28.tiff"/><Relationship Id="rId4" Type="http://schemas.openxmlformats.org/officeDocument/2006/relationships/image" Target="../media/image27.tif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0" y="1249680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>
                <a:solidFill>
                  <a:srgbClr val="011893"/>
                </a:solidFill>
              </a:rPr>
              <a:t>　動的計画法</a:t>
            </a:r>
            <a:endParaRPr kumimoji="1" lang="ja-JP" altLang="en-US" sz="3200" dirty="0">
              <a:solidFill>
                <a:srgbClr val="011893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FA400E-C243-F347-9BE6-46E657DCD3B8}"/>
              </a:ext>
            </a:extLst>
          </p:cNvPr>
          <p:cNvSpPr txBox="1"/>
          <p:nvPr/>
        </p:nvSpPr>
        <p:spPr>
          <a:xfrm>
            <a:off x="0" y="162560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プログラミング基礎同演習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1C33B1-D329-9348-9718-97E836138DF6}"/>
              </a:ext>
            </a:extLst>
          </p:cNvPr>
          <p:cNvSpPr txBox="1"/>
          <p:nvPr/>
        </p:nvSpPr>
        <p:spPr>
          <a:xfrm>
            <a:off x="3627120" y="524256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F5EEEB6-32A6-914E-957E-5C31A877EF9C}"/>
              </a:ext>
            </a:extLst>
          </p:cNvPr>
          <p:cNvSpPr txBox="1"/>
          <p:nvPr/>
        </p:nvSpPr>
        <p:spPr>
          <a:xfrm>
            <a:off x="8172400" y="56612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A276777-F683-0948-9AFE-D599DC0BB8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本講義で学ぶこと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4447BA-A136-5D48-9233-151B127A7F73}"/>
              </a:ext>
            </a:extLst>
          </p:cNvPr>
          <p:cNvSpPr txBox="1"/>
          <p:nvPr/>
        </p:nvSpPr>
        <p:spPr>
          <a:xfrm>
            <a:off x="323528" y="1412776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組み合わせ最適化問題の解法</a:t>
            </a:r>
            <a:endParaRPr kumimoji="1" lang="en-US" altLang="ja-JP" sz="3600"/>
          </a:p>
          <a:p>
            <a:r>
              <a:rPr lang="ja-JP" altLang="en-US" sz="3600"/>
              <a:t>・貪欲法</a:t>
            </a:r>
            <a:endParaRPr lang="en-US" altLang="ja-JP" sz="3600"/>
          </a:p>
          <a:p>
            <a:r>
              <a:rPr kumimoji="1" lang="ja-JP" altLang="en-US" sz="3600"/>
              <a:t>・全探索</a:t>
            </a:r>
            <a:endParaRPr kumimoji="1" lang="en-US" altLang="ja-JP" sz="3600"/>
          </a:p>
          <a:p>
            <a:r>
              <a:rPr lang="ja-JP" altLang="en-US" sz="3600"/>
              <a:t>・メモ化再帰による動的計画法</a:t>
            </a:r>
            <a:endParaRPr kumimoji="1" lang="ja-JP" altLang="en-US" sz="3600"/>
          </a:p>
        </p:txBody>
      </p:sp>
    </p:spTree>
    <p:extLst>
      <p:ext uri="{BB962C8B-B14F-4D97-AF65-F5344CB8AC3E}">
        <p14:creationId xmlns:p14="http://schemas.microsoft.com/office/powerpoint/2010/main" val="38506724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日常における最適化問題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23528" y="1196752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レストランにいって、料理や飲み物の注文をしたい</a:t>
            </a:r>
            <a:endParaRPr kumimoji="1" lang="ja-JP" altLang="en-US" sz="28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51520" y="2420888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できることなら美味しいものを食べたい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915816" y="2996952"/>
            <a:ext cx="77136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dirty="0"/>
              <a:t>vs.</a:t>
            </a:r>
            <a:endParaRPr kumimoji="1" lang="ja-JP" altLang="en-US" sz="44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23528" y="3789040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でもカロリーや値段は低く抑えたい</a:t>
            </a:r>
            <a:endParaRPr kumimoji="1" lang="ja-JP" altLang="en-US" sz="28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39552" y="5517232"/>
            <a:ext cx="757130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許容予算</a:t>
            </a:r>
            <a:r>
              <a:rPr lang="ja-JP" altLang="en-US" sz="3200" dirty="0"/>
              <a:t>内</a:t>
            </a:r>
            <a:r>
              <a:rPr kumimoji="1" lang="ja-JP" altLang="en-US" sz="3200" dirty="0"/>
              <a:t>、カロリー内で、「幸せ度」</a:t>
            </a:r>
            <a:endParaRPr kumimoji="1" lang="en-US" altLang="ja-JP" sz="3200" dirty="0"/>
          </a:p>
          <a:p>
            <a:r>
              <a:rPr kumimoji="1" lang="ja-JP" altLang="en-US" sz="3200" dirty="0"/>
              <a:t>を最大化する</a:t>
            </a:r>
            <a:r>
              <a:rPr kumimoji="1" lang="ja-JP" altLang="en-US" sz="3200" dirty="0">
                <a:solidFill>
                  <a:srgbClr val="FF0000"/>
                </a:solidFill>
              </a:rPr>
              <a:t>最適化問題</a:t>
            </a:r>
            <a:r>
              <a:rPr lang="ja-JP" altLang="en-US" sz="3200" dirty="0"/>
              <a:t>になっている</a:t>
            </a:r>
            <a:endParaRPr kumimoji="1" lang="ja-JP" altLang="en-US" sz="3200" dirty="0"/>
          </a:p>
        </p:txBody>
      </p:sp>
      <p:pic>
        <p:nvPicPr>
          <p:cNvPr id="1026" name="Picture 2" descr="メニューを選ぶカップルのイラスト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2996952"/>
            <a:ext cx="2160240" cy="2160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205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CA46865-0270-904A-8B13-02966D1CF2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組み合わせ最適化問題とは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092D633-ECB7-9045-AB00-4CF697754C38}"/>
              </a:ext>
            </a:extLst>
          </p:cNvPr>
          <p:cNvSpPr txBox="1"/>
          <p:nvPr/>
        </p:nvSpPr>
        <p:spPr>
          <a:xfrm>
            <a:off x="179512" y="1484784"/>
            <a:ext cx="8802410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一定の</a:t>
            </a:r>
            <a:r>
              <a:rPr kumimoji="1" lang="ja-JP" altLang="en-US" sz="3200" dirty="0">
                <a:solidFill>
                  <a:srgbClr val="FF0000"/>
                </a:solidFill>
              </a:rPr>
              <a:t>制約条件下</a:t>
            </a:r>
            <a:r>
              <a:rPr kumimoji="1" lang="ja-JP" altLang="en-US" sz="3200" dirty="0"/>
              <a:t>で</a:t>
            </a:r>
            <a:endParaRPr kumimoji="1"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コストを</a:t>
            </a:r>
            <a:r>
              <a:rPr lang="ja-JP" altLang="en-US" sz="3200" dirty="0">
                <a:solidFill>
                  <a:srgbClr val="FF0000"/>
                </a:solidFill>
              </a:rPr>
              <a:t>最小化</a:t>
            </a:r>
            <a:r>
              <a:rPr lang="ja-JP" altLang="en-US" sz="3200" dirty="0"/>
              <a:t>する</a:t>
            </a:r>
            <a:r>
              <a:rPr lang="en-US" altLang="ja-JP" sz="3200" dirty="0"/>
              <a:t> or </a:t>
            </a:r>
            <a:r>
              <a:rPr lang="ja-JP" altLang="en-US" sz="3200" dirty="0"/>
              <a:t>価値を</a:t>
            </a:r>
            <a:r>
              <a:rPr lang="ja-JP" altLang="en-US" sz="3200" dirty="0">
                <a:solidFill>
                  <a:srgbClr val="FF0000"/>
                </a:solidFill>
              </a:rPr>
              <a:t>最大化</a:t>
            </a:r>
            <a:r>
              <a:rPr lang="ja-JP" altLang="en-US" sz="3200" dirty="0"/>
              <a:t>する</a:t>
            </a:r>
            <a:endParaRPr lang="en-US" altLang="ja-JP" sz="3200" dirty="0"/>
          </a:p>
          <a:p>
            <a:endParaRPr lang="en-US" altLang="ja-JP" sz="3200" dirty="0"/>
          </a:p>
          <a:p>
            <a:r>
              <a:rPr lang="ja-JP" altLang="en-US" sz="3200" dirty="0"/>
              <a:t>ように、何かの</a:t>
            </a:r>
            <a:r>
              <a:rPr lang="ja-JP" altLang="en-US" sz="3200" dirty="0">
                <a:solidFill>
                  <a:srgbClr val="011893"/>
                </a:solidFill>
              </a:rPr>
              <a:t>組み合わせ</a:t>
            </a:r>
            <a:r>
              <a:rPr lang="ja-JP" altLang="en-US" sz="3200" dirty="0"/>
              <a:t>や</a:t>
            </a:r>
            <a:r>
              <a:rPr lang="ja-JP" altLang="en-US" sz="3200" dirty="0">
                <a:solidFill>
                  <a:srgbClr val="011893"/>
                </a:solidFill>
              </a:rPr>
              <a:t>順番</a:t>
            </a:r>
            <a:r>
              <a:rPr lang="ja-JP" altLang="en-US" sz="3200" dirty="0"/>
              <a:t>を決める問題</a:t>
            </a:r>
            <a:endParaRPr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3302411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三角形 24">
            <a:extLst>
              <a:ext uri="{FF2B5EF4-FFF2-40B4-BE49-F238E27FC236}">
                <a16:creationId xmlns:a16="http://schemas.microsoft.com/office/drawing/2014/main" id="{B77EABA9-9EE0-5E49-A3A2-A127CDD80E3A}"/>
              </a:ext>
            </a:extLst>
          </p:cNvPr>
          <p:cNvSpPr/>
          <p:nvPr/>
        </p:nvSpPr>
        <p:spPr>
          <a:xfrm>
            <a:off x="4067944" y="2060848"/>
            <a:ext cx="3888432" cy="3352096"/>
          </a:xfrm>
          <a:prstGeom prst="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B245280-1B31-894C-8018-C07FB33E2C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組み合わせ最適化問題の例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4C95F2B-4D9D-2547-882F-2D817611BB91}"/>
              </a:ext>
            </a:extLst>
          </p:cNvPr>
          <p:cNvSpPr txBox="1"/>
          <p:nvPr/>
        </p:nvSpPr>
        <p:spPr>
          <a:xfrm>
            <a:off x="467544" y="1484784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・スーパーで買い物をする</a:t>
            </a:r>
            <a:endParaRPr lang="en-US" altLang="ja-JP" sz="2400"/>
          </a:p>
          <a:p>
            <a:r>
              <a:rPr lang="ja-JP" altLang="en-US" sz="2400"/>
              <a:t>・図書館に本を返却する</a:t>
            </a:r>
            <a:endParaRPr lang="en-US" altLang="ja-JP" sz="2400"/>
          </a:p>
          <a:p>
            <a:r>
              <a:rPr lang="ja-JP" altLang="en-US" sz="2400"/>
              <a:t>・郵便局で手紙を出す</a:t>
            </a:r>
            <a:endParaRPr lang="en-US" altLang="ja-JP" sz="2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CCAE331-A856-E64B-95D8-7EF725914A09}"/>
              </a:ext>
            </a:extLst>
          </p:cNvPr>
          <p:cNvSpPr txBox="1"/>
          <p:nvPr/>
        </p:nvSpPr>
        <p:spPr>
          <a:xfrm>
            <a:off x="251520" y="980728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あなたは以下の三つのタスクをこなす必要がある</a:t>
            </a:r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04CB418-BA6B-FF4F-B78C-95B7C9BA2351}"/>
              </a:ext>
            </a:extLst>
          </p:cNvPr>
          <p:cNvGrpSpPr/>
          <p:nvPr/>
        </p:nvGrpSpPr>
        <p:grpSpPr>
          <a:xfrm>
            <a:off x="3491880" y="1772816"/>
            <a:ext cx="5045454" cy="3951312"/>
            <a:chOff x="650736" y="404664"/>
            <a:chExt cx="6792456" cy="5319464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37A1FEB4-D6BF-0142-B45E-90C1EC4BF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736" y="4456544"/>
              <a:ext cx="1143000" cy="1143000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52C204FB-FB4E-E34C-88B0-C9A345861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00192" y="4581128"/>
              <a:ext cx="1143000" cy="1143000"/>
            </a:xfrm>
            <a:prstGeom prst="rect">
              <a:avLst/>
            </a:prstGeom>
          </p:spPr>
        </p:pic>
        <p:pic>
          <p:nvPicPr>
            <p:cNvPr id="13" name="図 12">
              <a:extLst>
                <a:ext uri="{FF2B5EF4-FFF2-40B4-BE49-F238E27FC236}">
                  <a16:creationId xmlns:a16="http://schemas.microsoft.com/office/drawing/2014/main" id="{E248EB96-2866-D445-92FE-B4DD32739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131840" y="404664"/>
              <a:ext cx="1530200" cy="1149350"/>
            </a:xfrm>
            <a:prstGeom prst="rect">
              <a:avLst/>
            </a:prstGeom>
          </p:spPr>
        </p:pic>
        <p:pic>
          <p:nvPicPr>
            <p:cNvPr id="14" name="図 13">
              <a:extLst>
                <a:ext uri="{FF2B5EF4-FFF2-40B4-BE49-F238E27FC236}">
                  <a16:creationId xmlns:a16="http://schemas.microsoft.com/office/drawing/2014/main" id="{25F99212-CE59-F449-B3B0-278BEC4DBC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462024" y="3022070"/>
              <a:ext cx="1106179" cy="1028747"/>
            </a:xfrm>
            <a:prstGeom prst="rect">
              <a:avLst/>
            </a:prstGeom>
          </p:spPr>
        </p:pic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25028E37-9753-AA48-8E59-419A64D9D5F5}"/>
              </a:ext>
            </a:extLst>
          </p:cNvPr>
          <p:cNvGrpSpPr/>
          <p:nvPr/>
        </p:nvGrpSpPr>
        <p:grpSpPr>
          <a:xfrm>
            <a:off x="6372200" y="3284984"/>
            <a:ext cx="1132364" cy="1051942"/>
            <a:chOff x="4689956" y="2276872"/>
            <a:chExt cx="1597443" cy="1483990"/>
          </a:xfrm>
        </p:grpSpPr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408D7EEA-26EE-2B42-931B-92744666D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89956" y="2445524"/>
              <a:ext cx="720080" cy="1006323"/>
            </a:xfrm>
            <a:prstGeom prst="rect">
              <a:avLst/>
            </a:prstGeom>
          </p:spPr>
        </p:pic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D4861DE2-6C89-124D-905F-BB23B2D22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8104" y="3212976"/>
              <a:ext cx="619080" cy="547886"/>
            </a:xfrm>
            <a:prstGeom prst="rect">
              <a:avLst/>
            </a:prstGeom>
          </p:spPr>
        </p:pic>
        <p:pic>
          <p:nvPicPr>
            <p:cNvPr id="18" name="図 17">
              <a:extLst>
                <a:ext uri="{FF2B5EF4-FFF2-40B4-BE49-F238E27FC236}">
                  <a16:creationId xmlns:a16="http://schemas.microsoft.com/office/drawing/2014/main" id="{77B1CD97-042E-A949-9061-3ED006DC3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08104" y="2276872"/>
              <a:ext cx="779295" cy="837952"/>
            </a:xfrm>
            <a:prstGeom prst="rect">
              <a:avLst/>
            </a:prstGeom>
          </p:spPr>
        </p:pic>
      </p:grp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8DD11ACD-E953-F847-B394-94D3EEEF6F15}"/>
              </a:ext>
            </a:extLst>
          </p:cNvPr>
          <p:cNvSpPr txBox="1"/>
          <p:nvPr/>
        </p:nvSpPr>
        <p:spPr>
          <a:xfrm>
            <a:off x="5652120" y="34290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自宅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9D9CE431-2E81-2944-9FAC-A21D5EF71909}"/>
              </a:ext>
            </a:extLst>
          </p:cNvPr>
          <p:cNvSpPr txBox="1"/>
          <p:nvPr/>
        </p:nvSpPr>
        <p:spPr>
          <a:xfrm>
            <a:off x="3419872" y="450912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図書館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8022473-5911-364D-94AF-1F953FF1C5C7}"/>
              </a:ext>
            </a:extLst>
          </p:cNvPr>
          <p:cNvSpPr txBox="1"/>
          <p:nvPr/>
        </p:nvSpPr>
        <p:spPr>
          <a:xfrm>
            <a:off x="7596336" y="458112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郵便局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BB391EA-5D4A-6847-A2B4-FA003D171A59}"/>
              </a:ext>
            </a:extLst>
          </p:cNvPr>
          <p:cNvSpPr txBox="1"/>
          <p:nvPr/>
        </p:nvSpPr>
        <p:spPr>
          <a:xfrm>
            <a:off x="5292080" y="15567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スーパー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EAA39D4-7F42-4941-9BB6-C3FE146C00B2}"/>
              </a:ext>
            </a:extLst>
          </p:cNvPr>
          <p:cNvSpPr txBox="1"/>
          <p:nvPr/>
        </p:nvSpPr>
        <p:spPr>
          <a:xfrm>
            <a:off x="683568" y="5949280"/>
            <a:ext cx="60837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スーパー、図書館、郵便局は自宅から等距離にある</a:t>
            </a:r>
            <a:endParaRPr kumimoji="1" lang="en-US" altLang="ja-JP" sz="2000"/>
          </a:p>
          <a:p>
            <a:r>
              <a:rPr lang="ja-JP" altLang="en-US" sz="2000"/>
              <a:t>どのような順序でこなすべきか？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983699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4C0853F-F9DB-5A44-A5F6-BD4FE9F017D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組み合わせ最適化問題の例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2CFCF32-F70E-C744-8569-4F689D3DF8C9}"/>
              </a:ext>
            </a:extLst>
          </p:cNvPr>
          <p:cNvSpPr txBox="1"/>
          <p:nvPr/>
        </p:nvSpPr>
        <p:spPr>
          <a:xfrm>
            <a:off x="179512" y="1124744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もし「スーパー」「郵便局」「図書館」の順番だと・・・？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7B003C2-96EB-0542-9CCB-91598B1C2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921" y="3861048"/>
            <a:ext cx="735404" cy="7354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572722E-4388-EE44-9C08-5D5292AD4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705" y="3861048"/>
            <a:ext cx="735404" cy="735404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BBD1180-5C13-BC48-A76C-869816C8B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7993" y="3858586"/>
            <a:ext cx="984528" cy="73949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1DEF4B8-0581-FF41-9F29-40137BE465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209" y="3861048"/>
            <a:ext cx="789856" cy="73456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91B56EA-AC89-E94F-BCEE-B08EB906C5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2113" y="3861048"/>
            <a:ext cx="789856" cy="73456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F4E4E41-585E-D64F-AA23-FE2FE4F66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7337" y="3356992"/>
            <a:ext cx="628041" cy="555816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EC73673B-559F-3E45-A319-08AE639CC1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6610" y="2572220"/>
            <a:ext cx="648072" cy="69685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AB83DBCE-0155-C747-A48E-E9CDF5BC3D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1593" y="3356992"/>
            <a:ext cx="594925" cy="57112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DB04166A-4E7F-1543-AAAA-38FD3E7E59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1593" y="2780928"/>
            <a:ext cx="628041" cy="55581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203E767-8798-034C-99EE-8EEAED5931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0866" y="1996156"/>
            <a:ext cx="648072" cy="696852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22B629EF-9AFE-434B-8F68-C0B01BDD6A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9825" y="3356992"/>
            <a:ext cx="594925" cy="57112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1E5DB3AF-76F3-B142-8C35-72E624A369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39825" y="2780928"/>
            <a:ext cx="628041" cy="555816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3155EC1A-60A2-D943-B80A-5EBA21557B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2033" y="3284984"/>
            <a:ext cx="594925" cy="571128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9C5BA6-BC85-6940-BF4C-4F1D64A81EC1}"/>
              </a:ext>
            </a:extLst>
          </p:cNvPr>
          <p:cNvSpPr txBox="1"/>
          <p:nvPr/>
        </p:nvSpPr>
        <p:spPr>
          <a:xfrm>
            <a:off x="195209" y="292494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持ち物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09193628-08B2-D54D-85ED-E630196E8BCB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985065" y="4228331"/>
            <a:ext cx="1222928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FC47474D-7843-6D48-B6C4-82D1D5560B3B}"/>
              </a:ext>
            </a:extLst>
          </p:cNvPr>
          <p:cNvCxnSpPr>
            <a:cxnSpLocks/>
            <a:stCxn id="6" idx="3"/>
            <a:endCxn id="5" idx="1"/>
          </p:cNvCxnSpPr>
          <p:nvPr/>
        </p:nvCxnSpPr>
        <p:spPr>
          <a:xfrm>
            <a:off x="3192521" y="4228331"/>
            <a:ext cx="1467184" cy="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7BF90181-067C-3740-A576-4DEA92803E63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5395109" y="4228750"/>
            <a:ext cx="120881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8A0B3522-97BA-5042-8836-B5090C83145A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 flipV="1">
            <a:off x="7339325" y="4228331"/>
            <a:ext cx="992788" cy="41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E4E28A-3F42-0749-B8DF-D69B4EB04F2C}"/>
              </a:ext>
            </a:extLst>
          </p:cNvPr>
          <p:cNvSpPr txBox="1"/>
          <p:nvPr/>
        </p:nvSpPr>
        <p:spPr>
          <a:xfrm>
            <a:off x="2139425" y="3573016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買い物</a:t>
            </a:r>
            <a:r>
              <a:rPr lang="ja-JP" altLang="en-US" sz="1400"/>
              <a:t>をする</a:t>
            </a:r>
            <a:endParaRPr kumimoji="1" lang="ja-JP" altLang="en-US" sz="140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6B75E27-EB6A-FC4B-821B-FC59D58E5DCF}"/>
              </a:ext>
            </a:extLst>
          </p:cNvPr>
          <p:cNvSpPr txBox="1"/>
          <p:nvPr/>
        </p:nvSpPr>
        <p:spPr>
          <a:xfrm>
            <a:off x="4515689" y="3573016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手紙を出す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C7BD566-E8E2-DC42-BFC2-59264A7046CA}"/>
              </a:ext>
            </a:extLst>
          </p:cNvPr>
          <p:cNvSpPr txBox="1"/>
          <p:nvPr/>
        </p:nvSpPr>
        <p:spPr>
          <a:xfrm>
            <a:off x="6531913" y="357301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/>
              <a:t>本を返す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53D7B1E-7D65-1448-8C24-7BCF4E5B6BA9}"/>
              </a:ext>
            </a:extLst>
          </p:cNvPr>
          <p:cNvSpPr txBox="1"/>
          <p:nvPr/>
        </p:nvSpPr>
        <p:spPr>
          <a:xfrm>
            <a:off x="467544" y="5301208"/>
            <a:ext cx="46474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重い本を持ったまま</a:t>
            </a:r>
            <a:r>
              <a:rPr lang="en-US" altLang="ja-JP" sz="2400"/>
              <a:t>3</a:t>
            </a:r>
            <a:r>
              <a:rPr lang="ja-JP" altLang="en-US" sz="2400"/>
              <a:t>ステップ</a:t>
            </a:r>
            <a:endParaRPr lang="en-US" altLang="ja-JP" sz="2400"/>
          </a:p>
          <a:p>
            <a:r>
              <a:rPr kumimoji="1" lang="ja-JP" altLang="en-US" sz="2400"/>
              <a:t>買い物袋を抱えたまま</a:t>
            </a:r>
            <a:r>
              <a:rPr kumimoji="1" lang="en-US" altLang="ja-JP" sz="2400"/>
              <a:t>3</a:t>
            </a:r>
            <a:r>
              <a:rPr kumimoji="1" lang="ja-JP" altLang="en-US" sz="2400"/>
              <a:t>ステップ</a:t>
            </a: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05EB463D-5D3E-0B4F-A022-7DF13D139B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0112" y="4869160"/>
            <a:ext cx="2347683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010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525FADD-825F-FA47-8BA3-BEE7BC1785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組み合わせ最適化問題の例</a:t>
            </a:r>
          </a:p>
        </p:txBody>
      </p: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F9946741-D21A-A941-8ED1-C533FC4AFB29}"/>
              </a:ext>
            </a:extLst>
          </p:cNvPr>
          <p:cNvGrpSpPr/>
          <p:nvPr/>
        </p:nvGrpSpPr>
        <p:grpSpPr>
          <a:xfrm>
            <a:off x="179512" y="2516806"/>
            <a:ext cx="8926760" cy="2064322"/>
            <a:chOff x="200617" y="2932260"/>
            <a:chExt cx="8926760" cy="2064322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47E1726F-1F7F-0249-8689-5960A563A0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3401" y="4259135"/>
              <a:ext cx="735404" cy="735404"/>
            </a:xfrm>
            <a:prstGeom prst="rect">
              <a:avLst/>
            </a:prstGeom>
          </p:spPr>
        </p:pic>
        <p:pic>
          <p:nvPicPr>
            <p:cNvPr id="4" name="図 3">
              <a:extLst>
                <a:ext uri="{FF2B5EF4-FFF2-40B4-BE49-F238E27FC236}">
                  <a16:creationId xmlns:a16="http://schemas.microsoft.com/office/drawing/2014/main" id="{399BFC98-D85F-EB41-8C07-6F07D0286D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71733" y="4259135"/>
              <a:ext cx="735404" cy="735404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0F7AB629-7159-5547-8AFD-A3E13B943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30065" y="4257092"/>
              <a:ext cx="984528" cy="739490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852EDD9B-61BE-9E4A-A846-8BE9D7851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617" y="4259554"/>
              <a:ext cx="789856" cy="734566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D0FC8A5A-B481-0A46-BCB0-5B147A3831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337521" y="4259554"/>
              <a:ext cx="789856" cy="734566"/>
            </a:xfrm>
            <a:prstGeom prst="rect">
              <a:avLst/>
            </a:prstGeom>
          </p:spPr>
        </p:pic>
        <p:pic>
          <p:nvPicPr>
            <p:cNvPr id="8" name="図 7">
              <a:extLst>
                <a:ext uri="{FF2B5EF4-FFF2-40B4-BE49-F238E27FC236}">
                  <a16:creationId xmlns:a16="http://schemas.microsoft.com/office/drawing/2014/main" id="{C38D32DE-9ADA-2C48-A7EE-CA1BBB4EB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08729" y="3717032"/>
              <a:ext cx="628041" cy="555816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CDE1CAF4-F68A-9841-A9E1-84BF28CAE4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18002" y="2932260"/>
              <a:ext cx="648072" cy="696852"/>
            </a:xfrm>
            <a:prstGeom prst="rect">
              <a:avLst/>
            </a:prstGeom>
          </p:spPr>
        </p:pic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A2ED1690-73C9-5742-9377-CC0969DA5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296961" y="3501008"/>
              <a:ext cx="648072" cy="696852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1C8ED97F-E75B-BB4F-9087-1FD2ED96D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01417" y="3645024"/>
              <a:ext cx="594925" cy="571128"/>
            </a:xfrm>
            <a:prstGeom prst="rect">
              <a:avLst/>
            </a:prstGeom>
          </p:spPr>
        </p:pic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B09B7E24-D4BE-ED4C-9FA1-BFB140AE3F7A}"/>
                </a:ext>
              </a:extLst>
            </p:cNvPr>
            <p:cNvCxnSpPr>
              <a:cxnSpLocks/>
              <a:stCxn id="6" idx="3"/>
              <a:endCxn id="3" idx="1"/>
            </p:cNvCxnSpPr>
            <p:nvPr/>
          </p:nvCxnSpPr>
          <p:spPr>
            <a:xfrm>
              <a:off x="990473" y="4626837"/>
              <a:ext cx="12229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矢印コネクタ 12">
              <a:extLst>
                <a:ext uri="{FF2B5EF4-FFF2-40B4-BE49-F238E27FC236}">
                  <a16:creationId xmlns:a16="http://schemas.microsoft.com/office/drawing/2014/main" id="{8987DF16-ED84-D146-8F14-6A4B5B54FD18}"/>
                </a:ext>
              </a:extLst>
            </p:cNvPr>
            <p:cNvCxnSpPr>
              <a:cxnSpLocks/>
              <a:stCxn id="3" idx="3"/>
              <a:endCxn id="4" idx="1"/>
            </p:cNvCxnSpPr>
            <p:nvPr/>
          </p:nvCxnSpPr>
          <p:spPr>
            <a:xfrm>
              <a:off x="2948805" y="4626837"/>
              <a:ext cx="12229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矢印コネクタ 13">
              <a:extLst>
                <a:ext uri="{FF2B5EF4-FFF2-40B4-BE49-F238E27FC236}">
                  <a16:creationId xmlns:a16="http://schemas.microsoft.com/office/drawing/2014/main" id="{CAF8AFF5-C120-0346-BA1B-78E5A7850690}"/>
                </a:ext>
              </a:extLst>
            </p:cNvPr>
            <p:cNvCxnSpPr>
              <a:cxnSpLocks/>
              <a:stCxn id="4" idx="3"/>
              <a:endCxn id="5" idx="1"/>
            </p:cNvCxnSpPr>
            <p:nvPr/>
          </p:nvCxnSpPr>
          <p:spPr>
            <a:xfrm>
              <a:off x="4907137" y="4626837"/>
              <a:ext cx="12229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62A54FD0-4F36-6644-878C-527C36812BDD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7114593" y="4626837"/>
              <a:ext cx="1222928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D66F1730-2862-974B-A196-850D0B6256E7}"/>
                </a:ext>
              </a:extLst>
            </p:cNvPr>
            <p:cNvSpPr txBox="1"/>
            <p:nvPr/>
          </p:nvSpPr>
          <p:spPr>
            <a:xfrm>
              <a:off x="200617" y="335699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/>
                <a:t>持ち物</a:t>
              </a: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48150466-C5F8-0940-8F5D-BBBCD7FC79C0}"/>
                </a:ext>
              </a:extLst>
            </p:cNvPr>
            <p:cNvSpPr txBox="1"/>
            <p:nvPr/>
          </p:nvSpPr>
          <p:spPr>
            <a:xfrm>
              <a:off x="6033265" y="4005064"/>
              <a:ext cx="12618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/>
                <a:t>買い物</a:t>
              </a:r>
              <a:r>
                <a:rPr lang="ja-JP" altLang="en-US" sz="1400"/>
                <a:t>をする</a:t>
              </a:r>
              <a:endParaRPr kumimoji="1" lang="ja-JP" altLang="en-US" sz="1400"/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B1DBE00-8229-7544-A575-3DF49A6986BF}"/>
                </a:ext>
              </a:extLst>
            </p:cNvPr>
            <p:cNvSpPr txBox="1"/>
            <p:nvPr/>
          </p:nvSpPr>
          <p:spPr>
            <a:xfrm>
              <a:off x="2144833" y="4005064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/>
                <a:t>本を返す</a:t>
              </a: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AF3127FC-2EDA-3F4E-917B-D8B71A681A4F}"/>
                </a:ext>
              </a:extLst>
            </p:cNvPr>
            <p:cNvSpPr txBox="1"/>
            <p:nvPr/>
          </p:nvSpPr>
          <p:spPr>
            <a:xfrm>
              <a:off x="4017041" y="3933056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1400"/>
                <a:t>手紙を出す</a:t>
              </a:r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108C040-FB30-1F48-A31A-255A9EA28E29}"/>
              </a:ext>
            </a:extLst>
          </p:cNvPr>
          <p:cNvSpPr txBox="1"/>
          <p:nvPr/>
        </p:nvSpPr>
        <p:spPr>
          <a:xfrm>
            <a:off x="179512" y="1124744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もし「スーパー」「郵便局」「図書館」の順番だと・・・？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F2B8F72-A5A5-1642-9EF0-395CC9999633}"/>
              </a:ext>
            </a:extLst>
          </p:cNvPr>
          <p:cNvSpPr txBox="1"/>
          <p:nvPr/>
        </p:nvSpPr>
        <p:spPr>
          <a:xfrm>
            <a:off x="467544" y="5301208"/>
            <a:ext cx="403187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重い本を持つのは</a:t>
            </a:r>
            <a:r>
              <a:rPr lang="en-US" altLang="ja-JP" sz="2400"/>
              <a:t>1</a:t>
            </a:r>
            <a:r>
              <a:rPr lang="ja-JP" altLang="en-US" sz="2400"/>
              <a:t>ステップ</a:t>
            </a:r>
            <a:endParaRPr lang="en-US" altLang="ja-JP" sz="2400"/>
          </a:p>
          <a:p>
            <a:r>
              <a:rPr kumimoji="1" lang="ja-JP" altLang="en-US" sz="2400"/>
              <a:t>買い物袋持つのも</a:t>
            </a:r>
            <a:r>
              <a:rPr kumimoji="1" lang="en-US" altLang="ja-JP" sz="2400"/>
              <a:t>1</a:t>
            </a:r>
            <a:r>
              <a:rPr kumimoji="1" lang="ja-JP" altLang="en-US" sz="2400"/>
              <a:t>ステップ</a:t>
            </a:r>
          </a:p>
        </p:txBody>
      </p:sp>
      <p:pic>
        <p:nvPicPr>
          <p:cNvPr id="23" name="図 22">
            <a:extLst>
              <a:ext uri="{FF2B5EF4-FFF2-40B4-BE49-F238E27FC236}">
                <a16:creationId xmlns:a16="http://schemas.microsoft.com/office/drawing/2014/main" id="{98CC691E-74BA-3C4B-9A76-1850B1908B9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80112" y="4797152"/>
            <a:ext cx="2314543" cy="165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397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0341BA6-167D-AB4F-AB38-ACD5B2841F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組み合わせ最適化問題の応用例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C41FB3C-4016-0F4F-BA6F-B8EDFF626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06" y="2056484"/>
            <a:ext cx="1905000" cy="156210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0B32A18-503F-E64D-9CF1-1FCD14F71A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473" y="2272395"/>
            <a:ext cx="1296144" cy="129614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94C26F-27B5-084B-A6CC-52BE67231EEC}"/>
              </a:ext>
            </a:extLst>
          </p:cNvPr>
          <p:cNvSpPr txBox="1"/>
          <p:nvPr/>
        </p:nvSpPr>
        <p:spPr>
          <a:xfrm>
            <a:off x="1253285" y="1107322"/>
            <a:ext cx="29290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鉄板の型抜き</a:t>
            </a:r>
            <a:endParaRPr kumimoji="1" lang="en-US" altLang="ja-JP" sz="2800" dirty="0"/>
          </a:p>
          <a:p>
            <a:r>
              <a:rPr lang="en-US" altLang="ja-JP" sz="2800" dirty="0"/>
              <a:t>(</a:t>
            </a:r>
            <a:r>
              <a:rPr lang="ja-JP" altLang="en-US" sz="2800"/>
              <a:t>長方形詰込問題</a:t>
            </a:r>
            <a:r>
              <a:rPr lang="en-US" altLang="ja-JP" sz="2800" dirty="0"/>
              <a:t>)</a:t>
            </a:r>
            <a:endParaRPr kumimoji="1" lang="ja-JP" altLang="en-US" sz="2800"/>
          </a:p>
        </p:txBody>
      </p:sp>
      <p:sp>
        <p:nvSpPr>
          <p:cNvPr id="6" name="右矢印 5">
            <a:extLst>
              <a:ext uri="{FF2B5EF4-FFF2-40B4-BE49-F238E27FC236}">
                <a16:creationId xmlns:a16="http://schemas.microsoft.com/office/drawing/2014/main" id="{0409E022-1D20-FD4E-AA18-0811E0460EC2}"/>
              </a:ext>
            </a:extLst>
          </p:cNvPr>
          <p:cNvSpPr/>
          <p:nvPr/>
        </p:nvSpPr>
        <p:spPr>
          <a:xfrm>
            <a:off x="2245548" y="2595218"/>
            <a:ext cx="576064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8262B45-09D6-D043-B944-409044CE4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8144" y="2003028"/>
            <a:ext cx="1728192" cy="200952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91A1990-78E3-C643-8124-337F6C5FCBB7}"/>
              </a:ext>
            </a:extLst>
          </p:cNvPr>
          <p:cNvSpPr txBox="1"/>
          <p:nvPr/>
        </p:nvSpPr>
        <p:spPr>
          <a:xfrm>
            <a:off x="5868144" y="124658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配送順序</a:t>
            </a:r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954E51B5-8104-6A48-A66B-3625BBCC23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447" y="4348674"/>
            <a:ext cx="2627516" cy="1860281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3CEDAEE-4587-054B-B6D4-CC158E208A97}"/>
              </a:ext>
            </a:extLst>
          </p:cNvPr>
          <p:cNvSpPr txBox="1"/>
          <p:nvPr/>
        </p:nvSpPr>
        <p:spPr>
          <a:xfrm>
            <a:off x="1332477" y="385998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塗装計画</a:t>
            </a:r>
            <a:endParaRPr kumimoji="1" lang="ja-JP" altLang="en-US" sz="3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90F8E533-A5FF-014B-AA61-868029BE91A2}"/>
              </a:ext>
            </a:extLst>
          </p:cNvPr>
          <p:cNvSpPr txBox="1"/>
          <p:nvPr/>
        </p:nvSpPr>
        <p:spPr>
          <a:xfrm>
            <a:off x="428141" y="6027568"/>
            <a:ext cx="3518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白→黒：そのまま塗装できる</a:t>
            </a:r>
            <a:endParaRPr kumimoji="1" lang="en-US" altLang="ja-JP" sz="2000" dirty="0"/>
          </a:p>
          <a:p>
            <a:r>
              <a:rPr lang="ja-JP" altLang="en-US" sz="2000"/>
              <a:t>黒→白：洗浄が必要</a:t>
            </a:r>
            <a:endParaRPr kumimoji="1" lang="ja-JP" altLang="en-US" sz="200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7AF57587-1468-4C48-BCE7-A15762C03E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8144" y="4700328"/>
            <a:ext cx="1656184" cy="1914664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5B2E44-1F35-C840-9569-E863794FD43D}"/>
              </a:ext>
            </a:extLst>
          </p:cNvPr>
          <p:cNvSpPr txBox="1"/>
          <p:nvPr/>
        </p:nvSpPr>
        <p:spPr>
          <a:xfrm>
            <a:off x="4793246" y="4131586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バイトのシフト作成</a:t>
            </a:r>
          </a:p>
        </p:txBody>
      </p:sp>
    </p:spTree>
    <p:extLst>
      <p:ext uri="{BB962C8B-B14F-4D97-AF65-F5344CB8AC3E}">
        <p14:creationId xmlns:p14="http://schemas.microsoft.com/office/powerpoint/2010/main" val="1483041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A276777-F683-0948-9AFE-D599DC0BB8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本講義で学ぶこと</a:t>
            </a:r>
            <a:r>
              <a:rPr kumimoji="1" lang="en-US" altLang="ja-JP" dirty="0"/>
              <a:t> (</a:t>
            </a:r>
            <a:r>
              <a:rPr kumimoji="1" lang="ja-JP" altLang="en-US"/>
              <a:t>再掲</a:t>
            </a:r>
            <a:r>
              <a:rPr kumimoji="1" lang="en-US" altLang="ja-JP" dirty="0"/>
              <a:t>)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4447BA-A136-5D48-9233-151B127A7F73}"/>
              </a:ext>
            </a:extLst>
          </p:cNvPr>
          <p:cNvSpPr txBox="1"/>
          <p:nvPr/>
        </p:nvSpPr>
        <p:spPr>
          <a:xfrm>
            <a:off x="323528" y="1412776"/>
            <a:ext cx="664797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組み合わせ最適化問題の解法</a:t>
            </a:r>
            <a:endParaRPr kumimoji="1" lang="en-US" altLang="ja-JP" sz="3600" dirty="0"/>
          </a:p>
          <a:p>
            <a:r>
              <a:rPr lang="ja-JP" altLang="en-US" sz="3600"/>
              <a:t>・貪欲法</a:t>
            </a:r>
            <a:endParaRPr lang="en-US" altLang="ja-JP" sz="3600" dirty="0"/>
          </a:p>
          <a:p>
            <a:r>
              <a:rPr kumimoji="1" lang="ja-JP" altLang="en-US" sz="3600"/>
              <a:t>・全探索</a:t>
            </a:r>
            <a:endParaRPr kumimoji="1" lang="en-US" altLang="ja-JP" sz="3600" dirty="0"/>
          </a:p>
          <a:p>
            <a:r>
              <a:rPr lang="ja-JP" altLang="en-US" sz="3600"/>
              <a:t>・メモ化再帰による動的計画法</a:t>
            </a:r>
            <a:endParaRPr kumimoji="1" lang="ja-JP" altLang="en-US" sz="36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78BEAE-72E9-4944-9574-10D456B2945E}"/>
              </a:ext>
            </a:extLst>
          </p:cNvPr>
          <p:cNvSpPr txBox="1"/>
          <p:nvPr/>
        </p:nvSpPr>
        <p:spPr>
          <a:xfrm>
            <a:off x="299320" y="5085184"/>
            <a:ext cx="8392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これをナップサック問題を題材に考えてみる</a:t>
            </a:r>
          </a:p>
        </p:txBody>
      </p:sp>
    </p:spTree>
    <p:extLst>
      <p:ext uri="{BB962C8B-B14F-4D97-AF65-F5344CB8AC3E}">
        <p14:creationId xmlns:p14="http://schemas.microsoft.com/office/powerpoint/2010/main" val="2696276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08EB18E-354E-9846-ABBB-330BA33FDF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ナップサック問題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1F2F33F5-7661-6D44-ADB9-493178533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0032" y="3645024"/>
            <a:ext cx="734060" cy="73406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8EA629F-078A-DC47-AD88-D79EA0627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032" y="2492896"/>
            <a:ext cx="603250" cy="89370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C5E905B6-EBB9-F945-B071-A8B92037FD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4008" y="4509120"/>
            <a:ext cx="1152128" cy="1152128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0EF2FC6-B479-E347-A6EE-57931B52806D}"/>
              </a:ext>
            </a:extLst>
          </p:cNvPr>
          <p:cNvSpPr txBox="1"/>
          <p:nvPr/>
        </p:nvSpPr>
        <p:spPr>
          <a:xfrm>
            <a:off x="6084168" y="10335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重さ</a:t>
            </a:r>
            <a:endParaRPr kumimoji="1" lang="ja-JP" altLang="en-US" sz="28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19CEDFB-FECE-9041-9147-0EDC23E6B323}"/>
              </a:ext>
            </a:extLst>
          </p:cNvPr>
          <p:cNvSpPr txBox="1"/>
          <p:nvPr/>
        </p:nvSpPr>
        <p:spPr>
          <a:xfrm>
            <a:off x="7236296" y="10335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価値</a:t>
            </a:r>
            <a:endParaRPr kumimoji="1" lang="ja-JP" altLang="en-US" sz="28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8201705-0F5D-0D43-B128-70629A8080FE}"/>
              </a:ext>
            </a:extLst>
          </p:cNvPr>
          <p:cNvSpPr txBox="1"/>
          <p:nvPr/>
        </p:nvSpPr>
        <p:spPr>
          <a:xfrm>
            <a:off x="6339045" y="4792797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3</a:t>
            </a:r>
            <a:endParaRPr kumimoji="1" lang="ja-JP" altLang="en-US" sz="32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44B2095-6604-9347-877B-1E9AA2CEC232}"/>
              </a:ext>
            </a:extLst>
          </p:cNvPr>
          <p:cNvSpPr txBox="1"/>
          <p:nvPr/>
        </p:nvSpPr>
        <p:spPr>
          <a:xfrm>
            <a:off x="6339045" y="264736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4</a:t>
            </a:r>
            <a:endParaRPr kumimoji="1" lang="ja-JP" altLang="en-US" sz="32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85CD782-959A-3046-AD53-B181590D9EF5}"/>
              </a:ext>
            </a:extLst>
          </p:cNvPr>
          <p:cNvSpPr txBox="1"/>
          <p:nvPr/>
        </p:nvSpPr>
        <p:spPr>
          <a:xfrm>
            <a:off x="6355553" y="3719667"/>
            <a:ext cx="360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/>
              <a:t>3</a:t>
            </a:r>
            <a:endParaRPr kumimoji="1" lang="ja-JP" altLang="en-US" sz="32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D470FC8-8F91-D745-B60C-96DF228B70A5}"/>
              </a:ext>
            </a:extLst>
          </p:cNvPr>
          <p:cNvSpPr txBox="1"/>
          <p:nvPr/>
        </p:nvSpPr>
        <p:spPr>
          <a:xfrm>
            <a:off x="7386978" y="4792797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/>
              <a:t>33</a:t>
            </a:r>
            <a:endParaRPr kumimoji="1" lang="ja-JP" altLang="en-US" sz="32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8A25D25-84A8-3F47-B3E4-C7E8DE6E48CA}"/>
              </a:ext>
            </a:extLst>
          </p:cNvPr>
          <p:cNvSpPr txBox="1"/>
          <p:nvPr/>
        </p:nvSpPr>
        <p:spPr>
          <a:xfrm>
            <a:off x="7386978" y="2647361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36</a:t>
            </a:r>
            <a:endParaRPr kumimoji="1" lang="ja-JP" altLang="en-US" sz="320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911DE8-5BCD-0440-A60B-A26F7915739A}"/>
              </a:ext>
            </a:extLst>
          </p:cNvPr>
          <p:cNvSpPr txBox="1"/>
          <p:nvPr/>
        </p:nvSpPr>
        <p:spPr>
          <a:xfrm>
            <a:off x="7363665" y="3719667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/>
              <a:t>24</a:t>
            </a:r>
            <a:endParaRPr kumimoji="1" lang="ja-JP" altLang="en-US" sz="320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E2A8F4B5-C57F-DE4F-BC66-557DFE4E9E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2" y="2492896"/>
            <a:ext cx="1729740" cy="172974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A1A33C3-80F2-4348-ABD3-A238A2809BF7}"/>
              </a:ext>
            </a:extLst>
          </p:cNvPr>
          <p:cNvSpPr txBox="1"/>
          <p:nvPr/>
        </p:nvSpPr>
        <p:spPr>
          <a:xfrm>
            <a:off x="539552" y="1988840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持てる重さは最大「</a:t>
            </a:r>
            <a:r>
              <a:rPr kumimoji="1" lang="en-US" altLang="ja-JP" sz="2000"/>
              <a:t>10</a:t>
            </a:r>
            <a:r>
              <a:rPr kumimoji="1" lang="ja-JP" altLang="en-US" sz="2000"/>
              <a:t>」まで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4AF3E472-6BF7-D241-8A45-A24F49967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340768"/>
            <a:ext cx="1232297" cy="1051560"/>
          </a:xfrm>
          <a:prstGeom prst="rect">
            <a:avLst/>
          </a:prstGeom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1223447-5D78-C142-B562-CEAC921F3D5F}"/>
              </a:ext>
            </a:extLst>
          </p:cNvPr>
          <p:cNvSpPr txBox="1"/>
          <p:nvPr/>
        </p:nvSpPr>
        <p:spPr>
          <a:xfrm>
            <a:off x="6339045" y="1574161"/>
            <a:ext cx="3930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5</a:t>
            </a:r>
            <a:endParaRPr kumimoji="1" lang="ja-JP" altLang="en-US" sz="32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3E41BC7-DAD5-774C-AD98-6F27ACB38472}"/>
              </a:ext>
            </a:extLst>
          </p:cNvPr>
          <p:cNvSpPr txBox="1"/>
          <p:nvPr/>
        </p:nvSpPr>
        <p:spPr>
          <a:xfrm>
            <a:off x="7386978" y="1574161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50</a:t>
            </a:r>
            <a:endParaRPr kumimoji="1" lang="ja-JP" altLang="en-US" sz="320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AE8B9B6-C2AA-5744-AB16-61005EB4A7E3}"/>
              </a:ext>
            </a:extLst>
          </p:cNvPr>
          <p:cNvSpPr txBox="1"/>
          <p:nvPr/>
        </p:nvSpPr>
        <p:spPr>
          <a:xfrm>
            <a:off x="1043608" y="602128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solidFill>
                  <a:srgbClr val="FF0000"/>
                </a:solidFill>
              </a:rPr>
              <a:t>持ち運べる範囲</a:t>
            </a:r>
            <a:r>
              <a:rPr kumimoji="1" lang="ja-JP" altLang="en-US" sz="2400"/>
              <a:t>で</a:t>
            </a:r>
            <a:r>
              <a:rPr kumimoji="1" lang="ja-JP" altLang="en-US" sz="2400">
                <a:solidFill>
                  <a:srgbClr val="FF0000"/>
                </a:solidFill>
              </a:rPr>
              <a:t>価値を最大化</a:t>
            </a:r>
            <a:r>
              <a:rPr kumimoji="1" lang="ja-JP" altLang="en-US" sz="2400"/>
              <a:t>したい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A256FD7-0EA4-FB43-851E-3CB5F0312E62}"/>
              </a:ext>
            </a:extLst>
          </p:cNvPr>
          <p:cNvSpPr txBox="1"/>
          <p:nvPr/>
        </p:nvSpPr>
        <p:spPr>
          <a:xfrm>
            <a:off x="1619672" y="56612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solidFill>
                  <a:srgbClr val="011893"/>
                </a:solidFill>
              </a:rPr>
              <a:t>制約条件</a:t>
            </a:r>
          </a:p>
        </p:txBody>
      </p:sp>
    </p:spTree>
    <p:extLst>
      <p:ext uri="{BB962C8B-B14F-4D97-AF65-F5344CB8AC3E}">
        <p14:creationId xmlns:p14="http://schemas.microsoft.com/office/powerpoint/2010/main" val="3426108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3B06169-801D-014D-87B6-CA6B5ACBDA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貪欲法</a:t>
            </a:r>
            <a:r>
              <a:rPr kumimoji="1" lang="en-US" altLang="ja-JP"/>
              <a:t> (Greedy Method)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36816BD-E5AC-7D42-B5AD-351C0DF6C12E}"/>
              </a:ext>
            </a:extLst>
          </p:cNvPr>
          <p:cNvSpPr txBox="1"/>
          <p:nvPr/>
        </p:nvSpPr>
        <p:spPr>
          <a:xfrm>
            <a:off x="179512" y="1196752"/>
            <a:ext cx="88024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貪欲法は組み合わせ最適化問題の</a:t>
            </a:r>
            <a:r>
              <a:rPr kumimoji="1" lang="ja-JP" altLang="en-US" sz="2800">
                <a:solidFill>
                  <a:srgbClr val="FF0000"/>
                </a:solidFill>
              </a:rPr>
              <a:t>近似解</a:t>
            </a:r>
            <a:r>
              <a:rPr kumimoji="1" lang="ja-JP" altLang="en-US" sz="2800"/>
              <a:t>を与える</a:t>
            </a:r>
            <a:r>
              <a:rPr lang="ja-JP" altLang="en-US" sz="2800"/>
              <a:t>手法</a:t>
            </a:r>
            <a:endParaRPr kumimoji="1" lang="ja-JP" alt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140552-B450-C34B-863F-D9B2476B1922}"/>
              </a:ext>
            </a:extLst>
          </p:cNvPr>
          <p:cNvSpPr txBox="1"/>
          <p:nvPr/>
        </p:nvSpPr>
        <p:spPr>
          <a:xfrm>
            <a:off x="107504" y="2204864"/>
            <a:ext cx="880241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・選べる選択肢に、なんらかの方法で順番付けをする</a:t>
            </a:r>
            <a:endParaRPr kumimoji="1" lang="en-US" altLang="ja-JP" sz="2800"/>
          </a:p>
          <a:p>
            <a:r>
              <a:rPr lang="ja-JP" altLang="en-US" sz="2800"/>
              <a:t>・制約条件を満たす限り、上から順に選ぶ</a:t>
            </a:r>
            <a:endParaRPr kumimoji="1" lang="ja-JP" alt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23756C-2C08-FA4E-A9F6-270AD68445FB}"/>
              </a:ext>
            </a:extLst>
          </p:cNvPr>
          <p:cNvSpPr txBox="1"/>
          <p:nvPr/>
        </p:nvSpPr>
        <p:spPr>
          <a:xfrm>
            <a:off x="1043608" y="3789040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計算量は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8DCC9F9-346A-8C4B-B494-6EBA5EEBD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861048"/>
            <a:ext cx="1944216" cy="45242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5C16BE-BD1D-7543-9B32-993FFFA24BBB}"/>
              </a:ext>
            </a:extLst>
          </p:cNvPr>
          <p:cNvSpPr txBox="1"/>
          <p:nvPr/>
        </p:nvSpPr>
        <p:spPr>
          <a:xfrm>
            <a:off x="323528" y="6021288"/>
            <a:ext cx="79208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※ </a:t>
            </a:r>
            <a:r>
              <a:rPr kumimoji="1" lang="ja-JP" altLang="en-US" sz="2800"/>
              <a:t>多くの場合、貪欲法は</a:t>
            </a:r>
            <a:r>
              <a:rPr lang="ja-JP" altLang="en-US" sz="2800"/>
              <a:t>わりと良い解を与える</a:t>
            </a:r>
            <a:endParaRPr kumimoji="1" lang="ja-JP" altLang="en-US" sz="280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461970" y="4509120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↑ソートが一番重い</a:t>
            </a:r>
          </a:p>
        </p:txBody>
      </p:sp>
    </p:spTree>
    <p:extLst>
      <p:ext uri="{BB962C8B-B14F-4D97-AF65-F5344CB8AC3E}">
        <p14:creationId xmlns:p14="http://schemas.microsoft.com/office/powerpoint/2010/main" val="728284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58F3F12-F630-0D43-97A3-BEE7FBA63A2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ナップサック問題</a:t>
            </a:r>
            <a:r>
              <a:rPr kumimoji="1" lang="en-US" altLang="ja-JP"/>
              <a:t>(</a:t>
            </a:r>
            <a:r>
              <a:rPr kumimoji="1" lang="ja-JP" altLang="en-US"/>
              <a:t>貪欲法</a:t>
            </a:r>
            <a:r>
              <a:rPr kumimoji="1" lang="en-US" altLang="ja-JP"/>
              <a:t>)</a:t>
            </a:r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074DC12-54D2-8347-8279-C04509E8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647" y="4365104"/>
            <a:ext cx="606055" cy="60605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3FF03B02-E96A-C74F-8D6C-FCA2FA619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647" y="3413884"/>
            <a:ext cx="498056" cy="73786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FCB19DC-FC3B-2F42-A0E6-2A42E632EBDE}"/>
              </a:ext>
            </a:extLst>
          </p:cNvPr>
          <p:cNvSpPr txBox="1"/>
          <p:nvPr/>
        </p:nvSpPr>
        <p:spPr>
          <a:xfrm>
            <a:off x="1654319" y="115473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重さ</a:t>
            </a:r>
            <a:endParaRPr kumimoji="1" lang="ja-JP" altLang="en-US" sz="200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D4A722B-92A8-E94B-A874-A10325302B7B}"/>
              </a:ext>
            </a:extLst>
          </p:cNvPr>
          <p:cNvSpPr txBox="1"/>
          <p:nvPr/>
        </p:nvSpPr>
        <p:spPr>
          <a:xfrm>
            <a:off x="2605539" y="115473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価値</a:t>
            </a:r>
            <a:endParaRPr kumimoji="1" lang="ja-JP" alt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A67F7CF-41BC-8946-A89B-C0D9890044F3}"/>
              </a:ext>
            </a:extLst>
          </p:cNvPr>
          <p:cNvSpPr txBox="1"/>
          <p:nvPr/>
        </p:nvSpPr>
        <p:spPr>
          <a:xfrm>
            <a:off x="1864750" y="3541413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4</a:t>
            </a:r>
            <a:endParaRPr kumimoji="1" lang="ja-JP" altLang="en-US" sz="240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0179917-448F-F34D-B746-8A97ACF75549}"/>
              </a:ext>
            </a:extLst>
          </p:cNvPr>
          <p:cNvSpPr txBox="1"/>
          <p:nvPr/>
        </p:nvSpPr>
        <p:spPr>
          <a:xfrm>
            <a:off x="1878380" y="4426731"/>
            <a:ext cx="2972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3</a:t>
            </a:r>
            <a:endParaRPr kumimoji="1" lang="ja-JP" altLang="en-US" sz="240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8BBFE36-9AA8-A940-A5AF-7E3B88078E60}"/>
              </a:ext>
            </a:extLst>
          </p:cNvPr>
          <p:cNvSpPr txBox="1"/>
          <p:nvPr/>
        </p:nvSpPr>
        <p:spPr>
          <a:xfrm>
            <a:off x="2729944" y="3541413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36</a:t>
            </a:r>
            <a:endParaRPr kumimoji="1" lang="ja-JP" altLang="en-US" sz="240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5E0F0D9-C0E5-B24B-974C-04B4C63B07F9}"/>
              </a:ext>
            </a:extLst>
          </p:cNvPr>
          <p:cNvSpPr txBox="1"/>
          <p:nvPr/>
        </p:nvSpPr>
        <p:spPr>
          <a:xfrm>
            <a:off x="2710698" y="4426731"/>
            <a:ext cx="5350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/>
              <a:t>24</a:t>
            </a:r>
            <a:endParaRPr kumimoji="1" lang="ja-JP" altLang="en-US" sz="240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244DE58F-28DC-7E4F-B4E2-307DC1572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842" y="2462663"/>
            <a:ext cx="1017410" cy="868189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A508A68-84EF-874A-8612-906EA5DE100D}"/>
              </a:ext>
            </a:extLst>
          </p:cNvPr>
          <p:cNvSpPr txBox="1"/>
          <p:nvPr/>
        </p:nvSpPr>
        <p:spPr>
          <a:xfrm>
            <a:off x="1864750" y="265535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5</a:t>
            </a:r>
            <a:endParaRPr kumimoji="1" lang="ja-JP" altLang="en-US" sz="2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D543F8C-6223-F644-87EB-E007FE0E3343}"/>
              </a:ext>
            </a:extLst>
          </p:cNvPr>
          <p:cNvSpPr txBox="1"/>
          <p:nvPr/>
        </p:nvSpPr>
        <p:spPr>
          <a:xfrm>
            <a:off x="2729944" y="265535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50</a:t>
            </a:r>
            <a:endParaRPr kumimoji="1" lang="ja-JP" altLang="en-US" sz="24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7EA6298-3552-424E-9DED-306516322B05}"/>
              </a:ext>
            </a:extLst>
          </p:cNvPr>
          <p:cNvSpPr txBox="1"/>
          <p:nvPr/>
        </p:nvSpPr>
        <p:spPr>
          <a:xfrm>
            <a:off x="3785562" y="1154735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>
                <a:solidFill>
                  <a:srgbClr val="FF0000"/>
                </a:solidFill>
              </a:rPr>
              <a:t>重さあたりの価値</a:t>
            </a:r>
            <a:endParaRPr kumimoji="1" lang="ja-JP" altLang="en-US" sz="2000">
              <a:solidFill>
                <a:srgbClr val="FF0000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E2A899-D298-2E4E-9597-95C3DF74B0B0}"/>
              </a:ext>
            </a:extLst>
          </p:cNvPr>
          <p:cNvSpPr txBox="1"/>
          <p:nvPr/>
        </p:nvSpPr>
        <p:spPr>
          <a:xfrm>
            <a:off x="4629990" y="2641017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solidFill>
                  <a:srgbClr val="FF0000"/>
                </a:solidFill>
              </a:rPr>
              <a:t>10</a:t>
            </a:r>
            <a:endParaRPr kumimoji="1" lang="ja-JP" altLang="en-US" sz="2400">
              <a:solidFill>
                <a:srgbClr val="FF0000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2A609F-32C1-4B4D-A80C-F2B65475440B}"/>
              </a:ext>
            </a:extLst>
          </p:cNvPr>
          <p:cNvSpPr txBox="1"/>
          <p:nvPr/>
        </p:nvSpPr>
        <p:spPr>
          <a:xfrm>
            <a:off x="4716016" y="3532786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solidFill>
                  <a:srgbClr val="FF0000"/>
                </a:solidFill>
              </a:rPr>
              <a:t>9</a:t>
            </a:r>
            <a:endParaRPr kumimoji="1" lang="ja-JP" altLang="en-US" sz="2400">
              <a:solidFill>
                <a:srgbClr val="FF0000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66C27FC-BAA4-854C-B1D3-F7F3B979F91F}"/>
              </a:ext>
            </a:extLst>
          </p:cNvPr>
          <p:cNvSpPr txBox="1"/>
          <p:nvPr/>
        </p:nvSpPr>
        <p:spPr>
          <a:xfrm>
            <a:off x="4716016" y="436510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solidFill>
                  <a:srgbClr val="FF0000"/>
                </a:solidFill>
              </a:rPr>
              <a:t>8</a:t>
            </a:r>
            <a:endParaRPr kumimoji="1" lang="ja-JP" altLang="en-US" sz="2400">
              <a:solidFill>
                <a:srgbClr val="FF0000"/>
              </a:solidFill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86C2450A-82D9-0B40-A5A6-649058D95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42" y="1570894"/>
            <a:ext cx="951220" cy="951220"/>
          </a:xfrm>
          <a:prstGeom prst="rect">
            <a:avLst/>
          </a:prstGeom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5CD3144-CE44-B741-872F-368D089CFE8D}"/>
              </a:ext>
            </a:extLst>
          </p:cNvPr>
          <p:cNvSpPr txBox="1"/>
          <p:nvPr/>
        </p:nvSpPr>
        <p:spPr>
          <a:xfrm>
            <a:off x="1864750" y="180510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3</a:t>
            </a:r>
            <a:endParaRPr kumimoji="1" lang="ja-JP" altLang="en-US" sz="24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CB304E4-208E-A344-A2AE-8572A4E5A4DE}"/>
              </a:ext>
            </a:extLst>
          </p:cNvPr>
          <p:cNvSpPr txBox="1"/>
          <p:nvPr/>
        </p:nvSpPr>
        <p:spPr>
          <a:xfrm>
            <a:off x="2729944" y="1805104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33</a:t>
            </a:r>
            <a:endParaRPr kumimoji="1" lang="ja-JP" altLang="en-US" sz="24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46BD06B5-90A7-6B42-AB30-9F22721E1C1C}"/>
              </a:ext>
            </a:extLst>
          </p:cNvPr>
          <p:cNvSpPr txBox="1"/>
          <p:nvPr/>
        </p:nvSpPr>
        <p:spPr>
          <a:xfrm>
            <a:off x="4629990" y="1749248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>
                <a:solidFill>
                  <a:srgbClr val="FF0000"/>
                </a:solidFill>
              </a:rPr>
              <a:t>11</a:t>
            </a:r>
            <a:endParaRPr kumimoji="1" lang="ja-JP" altLang="en-US" sz="2400">
              <a:solidFill>
                <a:srgbClr val="FF0000"/>
              </a:solidFill>
            </a:endParaRPr>
          </a:p>
        </p:txBody>
      </p: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97BC014E-339A-294C-A0D4-B9AA6F641A23}"/>
              </a:ext>
            </a:extLst>
          </p:cNvPr>
          <p:cNvSpPr/>
          <p:nvPr/>
        </p:nvSpPr>
        <p:spPr>
          <a:xfrm>
            <a:off x="257170" y="1570894"/>
            <a:ext cx="5350615" cy="1783538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C46B0930-A5F7-654E-A4C8-3E66EE8B6052}"/>
              </a:ext>
            </a:extLst>
          </p:cNvPr>
          <p:cNvCxnSpPr/>
          <p:nvPr/>
        </p:nvCxnSpPr>
        <p:spPr>
          <a:xfrm>
            <a:off x="6012160" y="1556792"/>
            <a:ext cx="0" cy="30963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EB4395D-4B74-5540-8B90-07945062A0F3}"/>
              </a:ext>
            </a:extLst>
          </p:cNvPr>
          <p:cNvSpPr txBox="1"/>
          <p:nvPr/>
        </p:nvSpPr>
        <p:spPr>
          <a:xfrm>
            <a:off x="6372200" y="17728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上から順番に選ぶ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62E9510-C388-BB44-A714-14B02FBFD127}"/>
              </a:ext>
            </a:extLst>
          </p:cNvPr>
          <p:cNvSpPr txBox="1"/>
          <p:nvPr/>
        </p:nvSpPr>
        <p:spPr>
          <a:xfrm>
            <a:off x="6084168" y="3501008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ここで重さ</a:t>
            </a:r>
            <a:r>
              <a:rPr kumimoji="1" lang="en-US" altLang="ja-JP"/>
              <a:t>10</a:t>
            </a:r>
            <a:r>
              <a:rPr kumimoji="1" lang="ja-JP" altLang="en-US"/>
              <a:t>を超えるため</a:t>
            </a:r>
            <a:endParaRPr kumimoji="1" lang="en-US" altLang="ja-JP"/>
          </a:p>
          <a:p>
            <a:r>
              <a:rPr lang="ja-JP" altLang="en-US"/>
              <a:t>ストップ</a:t>
            </a:r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8449AD7-C7C4-0E4B-A592-33DD90FB0C04}"/>
              </a:ext>
            </a:extLst>
          </p:cNvPr>
          <p:cNvSpPr txBox="1"/>
          <p:nvPr/>
        </p:nvSpPr>
        <p:spPr>
          <a:xfrm>
            <a:off x="899592" y="5157192"/>
            <a:ext cx="19800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貪欲法による解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09CD5C7-3CE5-7C4B-B343-957E9B17799D}"/>
              </a:ext>
            </a:extLst>
          </p:cNvPr>
          <p:cNvSpPr txBox="1"/>
          <p:nvPr/>
        </p:nvSpPr>
        <p:spPr>
          <a:xfrm>
            <a:off x="4355976" y="5157192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最適解</a:t>
            </a:r>
          </a:p>
        </p:txBody>
      </p:sp>
      <p:sp>
        <p:nvSpPr>
          <p:cNvPr id="30" name="角丸四角形 29">
            <a:extLst>
              <a:ext uri="{FF2B5EF4-FFF2-40B4-BE49-F238E27FC236}">
                <a16:creationId xmlns:a16="http://schemas.microsoft.com/office/drawing/2014/main" id="{B6E579FD-2016-364E-99A8-6BDAB693E169}"/>
              </a:ext>
            </a:extLst>
          </p:cNvPr>
          <p:cNvSpPr/>
          <p:nvPr/>
        </p:nvSpPr>
        <p:spPr>
          <a:xfrm>
            <a:off x="683567" y="5589240"/>
            <a:ext cx="2232249" cy="113546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6E4AEE4B-7DDE-CB4A-8A5D-2540A0980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5565491"/>
            <a:ext cx="792088" cy="675914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67BEBE84-E53E-D94B-B788-180A351DBB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850" y="5599920"/>
            <a:ext cx="740557" cy="740557"/>
          </a:xfrm>
          <a:prstGeom prst="rect">
            <a:avLst/>
          </a:prstGeom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DF05EE2-67D0-BC4E-B81B-01054EB3DCBE}"/>
              </a:ext>
            </a:extLst>
          </p:cNvPr>
          <p:cNvSpPr txBox="1"/>
          <p:nvPr/>
        </p:nvSpPr>
        <p:spPr>
          <a:xfrm>
            <a:off x="899592" y="6237312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重さ</a:t>
            </a:r>
            <a:r>
              <a:rPr kumimoji="1" lang="en-US" altLang="ja-JP"/>
              <a:t>8</a:t>
            </a:r>
            <a:r>
              <a:rPr kumimoji="1" lang="ja-JP" altLang="en-US"/>
              <a:t>　価値</a:t>
            </a:r>
            <a:r>
              <a:rPr kumimoji="1" lang="en-US" altLang="ja-JP"/>
              <a:t> 83</a:t>
            </a:r>
            <a:endParaRPr kumimoji="1" lang="ja-JP" altLang="en-US"/>
          </a:p>
        </p:txBody>
      </p:sp>
      <p:sp>
        <p:nvSpPr>
          <p:cNvPr id="34" name="角丸四角形 33">
            <a:extLst>
              <a:ext uri="{FF2B5EF4-FFF2-40B4-BE49-F238E27FC236}">
                <a16:creationId xmlns:a16="http://schemas.microsoft.com/office/drawing/2014/main" id="{554281CE-92CE-9C4B-8ABD-7DE89F96EDAE}"/>
              </a:ext>
            </a:extLst>
          </p:cNvPr>
          <p:cNvSpPr/>
          <p:nvPr/>
        </p:nvSpPr>
        <p:spPr>
          <a:xfrm>
            <a:off x="3707904" y="5589240"/>
            <a:ext cx="2376263" cy="1135466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400"/>
          </a:p>
        </p:txBody>
      </p:sp>
      <p:pic>
        <p:nvPicPr>
          <p:cNvPr id="35" name="図 34">
            <a:extLst>
              <a:ext uri="{FF2B5EF4-FFF2-40B4-BE49-F238E27FC236}">
                <a16:creationId xmlns:a16="http://schemas.microsoft.com/office/drawing/2014/main" id="{62071688-D5BA-D542-8770-AE267B713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3927" y="5574316"/>
            <a:ext cx="678111" cy="678111"/>
          </a:xfrm>
          <a:prstGeom prst="rect">
            <a:avLst/>
          </a:prstGeom>
        </p:spPr>
      </p:pic>
      <p:pic>
        <p:nvPicPr>
          <p:cNvPr id="36" name="図 35">
            <a:extLst>
              <a:ext uri="{FF2B5EF4-FFF2-40B4-BE49-F238E27FC236}">
                <a16:creationId xmlns:a16="http://schemas.microsoft.com/office/drawing/2014/main" id="{9C2926D4-3548-5E42-B0E5-421B76E69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007" y="5661248"/>
            <a:ext cx="355057" cy="526010"/>
          </a:xfrm>
          <a:prstGeom prst="rect">
            <a:avLst/>
          </a:prstGeom>
        </p:spPr>
      </p:pic>
      <p:pic>
        <p:nvPicPr>
          <p:cNvPr id="37" name="図 36">
            <a:extLst>
              <a:ext uri="{FF2B5EF4-FFF2-40B4-BE49-F238E27FC236}">
                <a16:creationId xmlns:a16="http://schemas.microsoft.com/office/drawing/2014/main" id="{A8A97A55-F3C9-5B42-B5E5-E8B60B3A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1" y="5661248"/>
            <a:ext cx="432048" cy="432048"/>
          </a:xfrm>
          <a:prstGeom prst="rect">
            <a:avLst/>
          </a:prstGeom>
        </p:spPr>
      </p:pic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125A625-866C-4D44-91FA-CD35B257CEF9}"/>
              </a:ext>
            </a:extLst>
          </p:cNvPr>
          <p:cNvSpPr txBox="1"/>
          <p:nvPr/>
        </p:nvSpPr>
        <p:spPr>
          <a:xfrm>
            <a:off x="3995935" y="6237312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重さ</a:t>
            </a:r>
            <a:r>
              <a:rPr kumimoji="1" lang="en-US" altLang="ja-JP"/>
              <a:t>10</a:t>
            </a:r>
            <a:r>
              <a:rPr kumimoji="1" lang="ja-JP" altLang="en-US"/>
              <a:t>　価値</a:t>
            </a:r>
            <a:r>
              <a:rPr kumimoji="1" lang="en-US" altLang="ja-JP"/>
              <a:t> 93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7115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右矢印 78">
            <a:extLst>
              <a:ext uri="{FF2B5EF4-FFF2-40B4-BE49-F238E27FC236}">
                <a16:creationId xmlns:a16="http://schemas.microsoft.com/office/drawing/2014/main" id="{249C7E40-8909-9B41-96B1-3CEC5E087D6B}"/>
              </a:ext>
            </a:extLst>
          </p:cNvPr>
          <p:cNvSpPr/>
          <p:nvPr/>
        </p:nvSpPr>
        <p:spPr>
          <a:xfrm rot="8100000">
            <a:off x="3201782" y="1997353"/>
            <a:ext cx="1224136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右矢印 79">
            <a:extLst>
              <a:ext uri="{FF2B5EF4-FFF2-40B4-BE49-F238E27FC236}">
                <a16:creationId xmlns:a16="http://schemas.microsoft.com/office/drawing/2014/main" id="{81CDF13F-46BE-FC4B-9E7F-AD66D251D948}"/>
              </a:ext>
            </a:extLst>
          </p:cNvPr>
          <p:cNvSpPr/>
          <p:nvPr/>
        </p:nvSpPr>
        <p:spPr>
          <a:xfrm rot="8396613">
            <a:off x="1473590" y="3941569"/>
            <a:ext cx="1224136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右矢印 80">
            <a:extLst>
              <a:ext uri="{FF2B5EF4-FFF2-40B4-BE49-F238E27FC236}">
                <a16:creationId xmlns:a16="http://schemas.microsoft.com/office/drawing/2014/main" id="{7F9C207B-3E91-8046-8E5A-80C2355834FD}"/>
              </a:ext>
            </a:extLst>
          </p:cNvPr>
          <p:cNvSpPr/>
          <p:nvPr/>
        </p:nvSpPr>
        <p:spPr>
          <a:xfrm rot="2700000">
            <a:off x="4829146" y="2029961"/>
            <a:ext cx="1224136" cy="216024"/>
          </a:xfrm>
          <a:prstGeom prst="rightArrow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右矢印 81">
            <a:extLst>
              <a:ext uri="{FF2B5EF4-FFF2-40B4-BE49-F238E27FC236}">
                <a16:creationId xmlns:a16="http://schemas.microsoft.com/office/drawing/2014/main" id="{FAFC421B-6039-ED4A-888C-2D59C3ECAD31}"/>
              </a:ext>
            </a:extLst>
          </p:cNvPr>
          <p:cNvSpPr/>
          <p:nvPr/>
        </p:nvSpPr>
        <p:spPr>
          <a:xfrm rot="2700000">
            <a:off x="6629346" y="3902169"/>
            <a:ext cx="1224136" cy="216024"/>
          </a:xfrm>
          <a:prstGeom prst="rightArrow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右矢印 82">
            <a:extLst>
              <a:ext uri="{FF2B5EF4-FFF2-40B4-BE49-F238E27FC236}">
                <a16:creationId xmlns:a16="http://schemas.microsoft.com/office/drawing/2014/main" id="{62C9B3B7-0E0E-6648-8597-C41FFCD19541}"/>
              </a:ext>
            </a:extLst>
          </p:cNvPr>
          <p:cNvSpPr/>
          <p:nvPr/>
        </p:nvSpPr>
        <p:spPr>
          <a:xfrm rot="2700000">
            <a:off x="2956937" y="3974177"/>
            <a:ext cx="1224136" cy="216024"/>
          </a:xfrm>
          <a:prstGeom prst="rightArrow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右矢印 83">
            <a:extLst>
              <a:ext uri="{FF2B5EF4-FFF2-40B4-BE49-F238E27FC236}">
                <a16:creationId xmlns:a16="http://schemas.microsoft.com/office/drawing/2014/main" id="{26AF81DB-7CF2-3F40-A205-B6BD82C51A94}"/>
              </a:ext>
            </a:extLst>
          </p:cNvPr>
          <p:cNvSpPr/>
          <p:nvPr/>
        </p:nvSpPr>
        <p:spPr>
          <a:xfrm rot="6906533">
            <a:off x="5469590" y="3993059"/>
            <a:ext cx="1224136" cy="2160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FD5FE78-E11B-5942-8F60-49AC04FA5E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全探索</a:t>
            </a:r>
          </a:p>
        </p:txBody>
      </p:sp>
      <p:pic>
        <p:nvPicPr>
          <p:cNvPr id="54" name="図 53">
            <a:extLst>
              <a:ext uri="{FF2B5EF4-FFF2-40B4-BE49-F238E27FC236}">
                <a16:creationId xmlns:a16="http://schemas.microsoft.com/office/drawing/2014/main" id="{9A453F7E-D471-7947-AB54-457A0BD87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88" y="980728"/>
            <a:ext cx="649620" cy="649620"/>
          </a:xfrm>
          <a:prstGeom prst="rect">
            <a:avLst/>
          </a:prstGeom>
        </p:spPr>
      </p:pic>
      <p:pic>
        <p:nvPicPr>
          <p:cNvPr id="55" name="図 54">
            <a:extLst>
              <a:ext uri="{FF2B5EF4-FFF2-40B4-BE49-F238E27FC236}">
                <a16:creationId xmlns:a16="http://schemas.microsoft.com/office/drawing/2014/main" id="{5FA98403-1822-5246-B080-7A4791623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422" y="1823702"/>
            <a:ext cx="648072" cy="553021"/>
          </a:xfrm>
          <a:prstGeom prst="rect">
            <a:avLst/>
          </a:prstGeom>
        </p:spPr>
      </p:pic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D56C6955-95B0-C349-A101-9829080BDD87}"/>
              </a:ext>
            </a:extLst>
          </p:cNvPr>
          <p:cNvSpPr txBox="1"/>
          <p:nvPr/>
        </p:nvSpPr>
        <p:spPr>
          <a:xfrm>
            <a:off x="3080486" y="1916832"/>
            <a:ext cx="11079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を入れる</a:t>
            </a:r>
            <a:endParaRPr kumimoji="1" lang="ja-JP" altLang="en-US"/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116D8DA2-7B75-404A-B5DB-1D14CC3FF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44824"/>
            <a:ext cx="648072" cy="553021"/>
          </a:xfrm>
          <a:prstGeom prst="rect">
            <a:avLst/>
          </a:prstGeom>
        </p:spPr>
      </p:pic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18200CCD-4394-4147-A6D4-5C6735D4E2F6}"/>
              </a:ext>
            </a:extLst>
          </p:cNvPr>
          <p:cNvSpPr txBox="1"/>
          <p:nvPr/>
        </p:nvSpPr>
        <p:spPr>
          <a:xfrm>
            <a:off x="5148064" y="1916832"/>
            <a:ext cx="133882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を入れない</a:t>
            </a:r>
            <a:endParaRPr kumimoji="1" lang="ja-JP" altLang="en-US"/>
          </a:p>
        </p:txBody>
      </p:sp>
      <p:pic>
        <p:nvPicPr>
          <p:cNvPr id="59" name="図 58">
            <a:extLst>
              <a:ext uri="{FF2B5EF4-FFF2-40B4-BE49-F238E27FC236}">
                <a16:creationId xmlns:a16="http://schemas.microsoft.com/office/drawing/2014/main" id="{81FF672F-212E-2049-8E1D-EEBD3727D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752" y="2636912"/>
            <a:ext cx="928229" cy="792088"/>
          </a:xfrm>
          <a:prstGeom prst="rect">
            <a:avLst/>
          </a:prstGeom>
        </p:spPr>
      </p:pic>
      <p:pic>
        <p:nvPicPr>
          <p:cNvPr id="60" name="図 59">
            <a:extLst>
              <a:ext uri="{FF2B5EF4-FFF2-40B4-BE49-F238E27FC236}">
                <a16:creationId xmlns:a16="http://schemas.microsoft.com/office/drawing/2014/main" id="{18118CE8-E3AB-804B-B732-6B422348D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3933056"/>
            <a:ext cx="242033" cy="358568"/>
          </a:xfrm>
          <a:prstGeom prst="rect">
            <a:avLst/>
          </a:prstGeom>
        </p:spPr>
      </p:pic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6313A62-9DB7-1D44-A518-2F4E609B86A7}"/>
              </a:ext>
            </a:extLst>
          </p:cNvPr>
          <p:cNvSpPr txBox="1"/>
          <p:nvPr/>
        </p:nvSpPr>
        <p:spPr>
          <a:xfrm>
            <a:off x="1403648" y="3933056"/>
            <a:ext cx="11079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を入れる</a:t>
            </a:r>
            <a:endParaRPr kumimoji="1" lang="ja-JP" altLang="en-US"/>
          </a:p>
        </p:txBody>
      </p:sp>
      <p:pic>
        <p:nvPicPr>
          <p:cNvPr id="62" name="図 61">
            <a:extLst>
              <a:ext uri="{FF2B5EF4-FFF2-40B4-BE49-F238E27FC236}">
                <a16:creationId xmlns:a16="http://schemas.microsoft.com/office/drawing/2014/main" id="{F56ACF8D-20F2-3F49-A583-92D8CB3628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3933056"/>
            <a:ext cx="242033" cy="358568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8F73C0FD-C7A7-6F41-940A-A9415297604E}"/>
              </a:ext>
            </a:extLst>
          </p:cNvPr>
          <p:cNvSpPr txBox="1"/>
          <p:nvPr/>
        </p:nvSpPr>
        <p:spPr>
          <a:xfrm>
            <a:off x="3059832" y="3933056"/>
            <a:ext cx="133882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を入れない</a:t>
            </a:r>
            <a:endParaRPr kumimoji="1" lang="ja-JP" altLang="en-US"/>
          </a:p>
        </p:txBody>
      </p: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B88E5950-D3A8-4D49-B1ED-817FFB4A4F79}"/>
              </a:ext>
            </a:extLst>
          </p:cNvPr>
          <p:cNvSpPr/>
          <p:nvPr/>
        </p:nvSpPr>
        <p:spPr>
          <a:xfrm>
            <a:off x="4283968" y="980728"/>
            <a:ext cx="727071" cy="559285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角丸四角形 64">
            <a:extLst>
              <a:ext uri="{FF2B5EF4-FFF2-40B4-BE49-F238E27FC236}">
                <a16:creationId xmlns:a16="http://schemas.microsoft.com/office/drawing/2014/main" id="{356A5C5A-9F4D-5A42-A19A-126B3E575EE4}"/>
              </a:ext>
            </a:extLst>
          </p:cNvPr>
          <p:cNvSpPr/>
          <p:nvPr/>
        </p:nvSpPr>
        <p:spPr>
          <a:xfrm>
            <a:off x="2267744" y="2636912"/>
            <a:ext cx="1080120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6" name="図 65">
            <a:extLst>
              <a:ext uri="{FF2B5EF4-FFF2-40B4-BE49-F238E27FC236}">
                <a16:creationId xmlns:a16="http://schemas.microsoft.com/office/drawing/2014/main" id="{F5F1E5E4-9C5F-4141-B44D-58D775E63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4797152"/>
            <a:ext cx="928229" cy="792088"/>
          </a:xfrm>
          <a:prstGeom prst="rect">
            <a:avLst/>
          </a:prstGeom>
        </p:spPr>
      </p:pic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D3CEC3EE-059A-4E47-9FF4-182BB4F32E88}"/>
              </a:ext>
            </a:extLst>
          </p:cNvPr>
          <p:cNvSpPr/>
          <p:nvPr/>
        </p:nvSpPr>
        <p:spPr>
          <a:xfrm>
            <a:off x="3707904" y="4797152"/>
            <a:ext cx="1080120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68" name="図 67">
            <a:extLst>
              <a:ext uri="{FF2B5EF4-FFF2-40B4-BE49-F238E27FC236}">
                <a16:creationId xmlns:a16="http://schemas.microsoft.com/office/drawing/2014/main" id="{05A484C1-ECA7-8041-A37E-5A2AFC7FC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4797152"/>
            <a:ext cx="928229" cy="792088"/>
          </a:xfrm>
          <a:prstGeom prst="rect">
            <a:avLst/>
          </a:prstGeom>
        </p:spPr>
      </p:pic>
      <p:sp>
        <p:nvSpPr>
          <p:cNvPr id="69" name="角丸四角形 68">
            <a:extLst>
              <a:ext uri="{FF2B5EF4-FFF2-40B4-BE49-F238E27FC236}">
                <a16:creationId xmlns:a16="http://schemas.microsoft.com/office/drawing/2014/main" id="{0B3CB1EB-5708-F84E-8954-B34E0350BAC4}"/>
              </a:ext>
            </a:extLst>
          </p:cNvPr>
          <p:cNvSpPr/>
          <p:nvPr/>
        </p:nvSpPr>
        <p:spPr>
          <a:xfrm>
            <a:off x="539552" y="4797152"/>
            <a:ext cx="2232248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0" name="図 69">
            <a:extLst>
              <a:ext uri="{FF2B5EF4-FFF2-40B4-BE49-F238E27FC236}">
                <a16:creationId xmlns:a16="http://schemas.microsoft.com/office/drawing/2014/main" id="{0085116E-85C0-0443-8724-E306CBD356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04" y="4869160"/>
            <a:ext cx="432048" cy="640072"/>
          </a:xfrm>
          <a:prstGeom prst="rect">
            <a:avLst/>
          </a:prstGeom>
        </p:spPr>
      </p:pic>
      <p:sp>
        <p:nvSpPr>
          <p:cNvPr id="71" name="角丸四角形 70">
            <a:extLst>
              <a:ext uri="{FF2B5EF4-FFF2-40B4-BE49-F238E27FC236}">
                <a16:creationId xmlns:a16="http://schemas.microsoft.com/office/drawing/2014/main" id="{74E66A0A-F9DE-784A-AD1B-DF4DB85DA247}"/>
              </a:ext>
            </a:extLst>
          </p:cNvPr>
          <p:cNvSpPr/>
          <p:nvPr/>
        </p:nvSpPr>
        <p:spPr>
          <a:xfrm>
            <a:off x="5796136" y="2636912"/>
            <a:ext cx="1029715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2" name="図 71">
            <a:extLst>
              <a:ext uri="{FF2B5EF4-FFF2-40B4-BE49-F238E27FC236}">
                <a16:creationId xmlns:a16="http://schemas.microsoft.com/office/drawing/2014/main" id="{A09F3500-3DDD-224A-A368-635133D90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933056"/>
            <a:ext cx="242033" cy="358568"/>
          </a:xfrm>
          <a:prstGeom prst="rect">
            <a:avLst/>
          </a:prstGeom>
        </p:spPr>
      </p:pic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59C5F734-D39C-4C40-8914-9C26A61992B8}"/>
              </a:ext>
            </a:extLst>
          </p:cNvPr>
          <p:cNvSpPr txBox="1"/>
          <p:nvPr/>
        </p:nvSpPr>
        <p:spPr>
          <a:xfrm>
            <a:off x="5652120" y="3933056"/>
            <a:ext cx="1107996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を入れる</a:t>
            </a:r>
            <a:endParaRPr kumimoji="1" lang="ja-JP" altLang="en-US"/>
          </a:p>
        </p:txBody>
      </p:sp>
      <p:pic>
        <p:nvPicPr>
          <p:cNvPr id="74" name="図 73">
            <a:extLst>
              <a:ext uri="{FF2B5EF4-FFF2-40B4-BE49-F238E27FC236}">
                <a16:creationId xmlns:a16="http://schemas.microsoft.com/office/drawing/2014/main" id="{67B45493-EFE4-A946-B9EA-3F1A3A9C3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0272" y="3933056"/>
            <a:ext cx="242033" cy="358568"/>
          </a:xfrm>
          <a:prstGeom prst="rect">
            <a:avLst/>
          </a:prstGeom>
        </p:spPr>
      </p:pic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6D2E36E-BDC9-8B47-8F87-88DDE04D372F}"/>
              </a:ext>
            </a:extLst>
          </p:cNvPr>
          <p:cNvSpPr txBox="1"/>
          <p:nvPr/>
        </p:nvSpPr>
        <p:spPr>
          <a:xfrm>
            <a:off x="7308304" y="3933056"/>
            <a:ext cx="1338828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lang="ja-JP" altLang="en-US"/>
              <a:t>を入れない</a:t>
            </a:r>
            <a:endParaRPr kumimoji="1" lang="ja-JP" altLang="en-US"/>
          </a:p>
        </p:txBody>
      </p:sp>
      <p:sp>
        <p:nvSpPr>
          <p:cNvPr id="76" name="角丸四角形 75">
            <a:extLst>
              <a:ext uri="{FF2B5EF4-FFF2-40B4-BE49-F238E27FC236}">
                <a16:creationId xmlns:a16="http://schemas.microsoft.com/office/drawing/2014/main" id="{46FA5773-AAEC-244B-9B2A-EC3E20F18912}"/>
              </a:ext>
            </a:extLst>
          </p:cNvPr>
          <p:cNvSpPr/>
          <p:nvPr/>
        </p:nvSpPr>
        <p:spPr>
          <a:xfrm>
            <a:off x="5508104" y="4797152"/>
            <a:ext cx="1080120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7" name="図 76">
            <a:extLst>
              <a:ext uri="{FF2B5EF4-FFF2-40B4-BE49-F238E27FC236}">
                <a16:creationId xmlns:a16="http://schemas.microsoft.com/office/drawing/2014/main" id="{E15DEE62-B353-F141-9EEC-110689D66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136" y="4869160"/>
            <a:ext cx="432048" cy="640072"/>
          </a:xfrm>
          <a:prstGeom prst="rect">
            <a:avLst/>
          </a:prstGeom>
        </p:spPr>
      </p:pic>
      <p:sp>
        <p:nvSpPr>
          <p:cNvPr id="78" name="角丸四角形 77">
            <a:extLst>
              <a:ext uri="{FF2B5EF4-FFF2-40B4-BE49-F238E27FC236}">
                <a16:creationId xmlns:a16="http://schemas.microsoft.com/office/drawing/2014/main" id="{95D0E28F-1A43-6744-A96B-BFDABE4656AC}"/>
              </a:ext>
            </a:extLst>
          </p:cNvPr>
          <p:cNvSpPr/>
          <p:nvPr/>
        </p:nvSpPr>
        <p:spPr>
          <a:xfrm>
            <a:off x="7452320" y="4797152"/>
            <a:ext cx="1029715" cy="792088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89" name="グループ化 88">
            <a:extLst>
              <a:ext uri="{FF2B5EF4-FFF2-40B4-BE49-F238E27FC236}">
                <a16:creationId xmlns:a16="http://schemas.microsoft.com/office/drawing/2014/main" id="{0A54ACCD-4703-0343-B14C-9094A9934999}"/>
              </a:ext>
            </a:extLst>
          </p:cNvPr>
          <p:cNvGrpSpPr/>
          <p:nvPr/>
        </p:nvGrpSpPr>
        <p:grpSpPr>
          <a:xfrm>
            <a:off x="3598449" y="5610860"/>
            <a:ext cx="1063562" cy="604833"/>
            <a:chOff x="3598449" y="5610860"/>
            <a:chExt cx="1063562" cy="604833"/>
          </a:xfrm>
        </p:grpSpPr>
        <p:sp>
          <p:nvSpPr>
            <p:cNvPr id="87" name="右矢印 86">
              <a:extLst>
                <a:ext uri="{FF2B5EF4-FFF2-40B4-BE49-F238E27FC236}">
                  <a16:creationId xmlns:a16="http://schemas.microsoft.com/office/drawing/2014/main" id="{6968D856-D92D-3F43-974F-E4BDFD50F1A4}"/>
                </a:ext>
              </a:extLst>
            </p:cNvPr>
            <p:cNvSpPr/>
            <p:nvPr/>
          </p:nvSpPr>
          <p:spPr>
            <a:xfrm rot="8396613">
              <a:off x="3598449" y="5845674"/>
              <a:ext cx="612068" cy="10673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右矢印 87">
              <a:extLst>
                <a:ext uri="{FF2B5EF4-FFF2-40B4-BE49-F238E27FC236}">
                  <a16:creationId xmlns:a16="http://schemas.microsoft.com/office/drawing/2014/main" id="{180937FB-CA3F-024C-98D0-1D0A1DFA1582}"/>
                </a:ext>
              </a:extLst>
            </p:cNvPr>
            <p:cNvSpPr/>
            <p:nvPr/>
          </p:nvSpPr>
          <p:spPr>
            <a:xfrm rot="2700000">
              <a:off x="4305588" y="5859271"/>
              <a:ext cx="604833" cy="108012"/>
            </a:xfrm>
            <a:prstGeom prst="rightArrow">
              <a:avLst/>
            </a:prstGeom>
            <a:solidFill>
              <a:srgbClr val="0118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5ED70CD4-431D-1D4E-90B6-FAAC49F3E079}"/>
              </a:ext>
            </a:extLst>
          </p:cNvPr>
          <p:cNvGrpSpPr/>
          <p:nvPr/>
        </p:nvGrpSpPr>
        <p:grpSpPr>
          <a:xfrm>
            <a:off x="971600" y="5589240"/>
            <a:ext cx="1063562" cy="604833"/>
            <a:chOff x="3598449" y="5610860"/>
            <a:chExt cx="1063562" cy="604833"/>
          </a:xfrm>
        </p:grpSpPr>
        <p:sp>
          <p:nvSpPr>
            <p:cNvPr id="91" name="右矢印 90">
              <a:extLst>
                <a:ext uri="{FF2B5EF4-FFF2-40B4-BE49-F238E27FC236}">
                  <a16:creationId xmlns:a16="http://schemas.microsoft.com/office/drawing/2014/main" id="{F2DACF14-5278-AB48-921C-3C82D6995D86}"/>
                </a:ext>
              </a:extLst>
            </p:cNvPr>
            <p:cNvSpPr/>
            <p:nvPr/>
          </p:nvSpPr>
          <p:spPr>
            <a:xfrm rot="8396613">
              <a:off x="3598449" y="5845674"/>
              <a:ext cx="612068" cy="10673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右矢印 91">
              <a:extLst>
                <a:ext uri="{FF2B5EF4-FFF2-40B4-BE49-F238E27FC236}">
                  <a16:creationId xmlns:a16="http://schemas.microsoft.com/office/drawing/2014/main" id="{9065E111-F9CF-8140-B392-9B716710B11B}"/>
                </a:ext>
              </a:extLst>
            </p:cNvPr>
            <p:cNvSpPr/>
            <p:nvPr/>
          </p:nvSpPr>
          <p:spPr>
            <a:xfrm rot="2700000">
              <a:off x="4305588" y="5859271"/>
              <a:ext cx="604833" cy="108012"/>
            </a:xfrm>
            <a:prstGeom prst="rightArrow">
              <a:avLst/>
            </a:prstGeom>
            <a:solidFill>
              <a:srgbClr val="0118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5EFC64CC-4C4D-014D-9952-5E59A62E8412}"/>
              </a:ext>
            </a:extLst>
          </p:cNvPr>
          <p:cNvGrpSpPr/>
          <p:nvPr/>
        </p:nvGrpSpPr>
        <p:grpSpPr>
          <a:xfrm>
            <a:off x="5436096" y="5589240"/>
            <a:ext cx="1063562" cy="604833"/>
            <a:chOff x="3598449" y="5610860"/>
            <a:chExt cx="1063562" cy="604833"/>
          </a:xfrm>
        </p:grpSpPr>
        <p:sp>
          <p:nvSpPr>
            <p:cNvPr id="94" name="右矢印 93">
              <a:extLst>
                <a:ext uri="{FF2B5EF4-FFF2-40B4-BE49-F238E27FC236}">
                  <a16:creationId xmlns:a16="http://schemas.microsoft.com/office/drawing/2014/main" id="{181735A0-241C-6541-941A-510DD1CFFC4D}"/>
                </a:ext>
              </a:extLst>
            </p:cNvPr>
            <p:cNvSpPr/>
            <p:nvPr/>
          </p:nvSpPr>
          <p:spPr>
            <a:xfrm rot="8396613">
              <a:off x="3598449" y="5845674"/>
              <a:ext cx="612068" cy="10673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右矢印 94">
              <a:extLst>
                <a:ext uri="{FF2B5EF4-FFF2-40B4-BE49-F238E27FC236}">
                  <a16:creationId xmlns:a16="http://schemas.microsoft.com/office/drawing/2014/main" id="{38CADB47-97BA-5847-8AC2-1F47D33A961D}"/>
                </a:ext>
              </a:extLst>
            </p:cNvPr>
            <p:cNvSpPr/>
            <p:nvPr/>
          </p:nvSpPr>
          <p:spPr>
            <a:xfrm rot="2700000">
              <a:off x="4305588" y="5859271"/>
              <a:ext cx="604833" cy="108012"/>
            </a:xfrm>
            <a:prstGeom prst="rightArrow">
              <a:avLst/>
            </a:prstGeom>
            <a:solidFill>
              <a:srgbClr val="0118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FFF9F45A-0794-9D45-ACF7-68146F842FFA}"/>
              </a:ext>
            </a:extLst>
          </p:cNvPr>
          <p:cNvGrpSpPr/>
          <p:nvPr/>
        </p:nvGrpSpPr>
        <p:grpSpPr>
          <a:xfrm>
            <a:off x="7308304" y="5589240"/>
            <a:ext cx="1063562" cy="604833"/>
            <a:chOff x="3598449" y="5610860"/>
            <a:chExt cx="1063562" cy="604833"/>
          </a:xfrm>
        </p:grpSpPr>
        <p:sp>
          <p:nvSpPr>
            <p:cNvPr id="97" name="右矢印 96">
              <a:extLst>
                <a:ext uri="{FF2B5EF4-FFF2-40B4-BE49-F238E27FC236}">
                  <a16:creationId xmlns:a16="http://schemas.microsoft.com/office/drawing/2014/main" id="{CCAF419F-DBF5-724E-9061-D7E2D94B4219}"/>
                </a:ext>
              </a:extLst>
            </p:cNvPr>
            <p:cNvSpPr/>
            <p:nvPr/>
          </p:nvSpPr>
          <p:spPr>
            <a:xfrm rot="8396613">
              <a:off x="3598449" y="5845674"/>
              <a:ext cx="612068" cy="10673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8" name="右矢印 97">
              <a:extLst>
                <a:ext uri="{FF2B5EF4-FFF2-40B4-BE49-F238E27FC236}">
                  <a16:creationId xmlns:a16="http://schemas.microsoft.com/office/drawing/2014/main" id="{9438C92C-AB7E-2643-B9CF-08A90DDC71A5}"/>
                </a:ext>
              </a:extLst>
            </p:cNvPr>
            <p:cNvSpPr/>
            <p:nvPr/>
          </p:nvSpPr>
          <p:spPr>
            <a:xfrm rot="2700000">
              <a:off x="4305588" y="5859271"/>
              <a:ext cx="604833" cy="108012"/>
            </a:xfrm>
            <a:prstGeom prst="rightArrow">
              <a:avLst/>
            </a:prstGeom>
            <a:solidFill>
              <a:srgbClr val="01189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639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4AA4C46-F589-7847-A6C7-6F5006E3557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全探索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C6F3F4E-F0F1-EF42-8CA4-7ED2FE6EECBC}"/>
              </a:ext>
            </a:extLst>
          </p:cNvPr>
          <p:cNvSpPr txBox="1"/>
          <p:nvPr/>
        </p:nvSpPr>
        <p:spPr>
          <a:xfrm>
            <a:off x="323528" y="1124744"/>
            <a:ext cx="84433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各品物について「入れる」か「入れない」かを選ぶ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FBA5460-B703-7640-9BDF-B4D248BAA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204864"/>
            <a:ext cx="648072" cy="521619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9B61F5C-5418-2946-9E1D-B8EEF11A0AD7}"/>
              </a:ext>
            </a:extLst>
          </p:cNvPr>
          <p:cNvSpPr txBox="1"/>
          <p:nvPr/>
        </p:nvSpPr>
        <p:spPr>
          <a:xfrm>
            <a:off x="323528" y="2276872"/>
            <a:ext cx="33377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品物の数を</a:t>
            </a:r>
            <a:r>
              <a:rPr kumimoji="1" lang="en-US" altLang="ja-JP" sz="2800"/>
              <a:t>N</a:t>
            </a:r>
            <a:r>
              <a:rPr kumimoji="1" lang="ja-JP" altLang="en-US" sz="2800"/>
              <a:t>として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E1427D3-2913-C842-93B3-B07F98074D00}"/>
              </a:ext>
            </a:extLst>
          </p:cNvPr>
          <p:cNvSpPr txBox="1"/>
          <p:nvPr/>
        </p:nvSpPr>
        <p:spPr>
          <a:xfrm>
            <a:off x="4572000" y="2276872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通り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B6746F4-744D-8C4B-A628-27FA68D8B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829" y="3302657"/>
            <a:ext cx="1206500" cy="53340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6D42FF4-1573-7E40-9211-4109D84D6892}"/>
              </a:ext>
            </a:extLst>
          </p:cNvPr>
          <p:cNvSpPr txBox="1"/>
          <p:nvPr/>
        </p:nvSpPr>
        <p:spPr>
          <a:xfrm>
            <a:off x="395536" y="3284984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計算量は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08E47F5-B2A4-1F45-AE5A-B335E5FBA107}"/>
              </a:ext>
            </a:extLst>
          </p:cNvPr>
          <p:cNvSpPr txBox="1"/>
          <p:nvPr/>
        </p:nvSpPr>
        <p:spPr>
          <a:xfrm>
            <a:off x="395536" y="4221088"/>
            <a:ext cx="80648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/>
              <a:t>※ N=20</a:t>
            </a:r>
            <a:r>
              <a:rPr kumimoji="1" lang="ja-JP" altLang="en-US" sz="2800"/>
              <a:t>なら余裕、がんばれば</a:t>
            </a:r>
            <a:r>
              <a:rPr kumimoji="1" lang="en-US" altLang="ja-JP" sz="2800"/>
              <a:t>N=30</a:t>
            </a:r>
            <a:r>
              <a:rPr kumimoji="1" lang="ja-JP" altLang="en-US" sz="2800"/>
              <a:t>くらいまで？</a:t>
            </a:r>
          </a:p>
        </p:txBody>
      </p:sp>
    </p:spTree>
    <p:extLst>
      <p:ext uri="{BB962C8B-B14F-4D97-AF65-F5344CB8AC3E}">
        <p14:creationId xmlns:p14="http://schemas.microsoft.com/office/powerpoint/2010/main" val="2099363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8B289A8-40CB-1F45-9F62-43DB52C8F0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動的計画法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5A2681-2675-B54B-9659-0153E2DE7D94}"/>
              </a:ext>
            </a:extLst>
          </p:cNvPr>
          <p:cNvSpPr txBox="1"/>
          <p:nvPr/>
        </p:nvSpPr>
        <p:spPr>
          <a:xfrm>
            <a:off x="467544" y="1412776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貪欲法：簡単だが近似解しか得られない</a:t>
            </a:r>
            <a:endParaRPr kumimoji="1" lang="en-US" altLang="ja-JP" sz="3600"/>
          </a:p>
          <a:p>
            <a:r>
              <a:rPr lang="ja-JP" altLang="en-US" sz="3600"/>
              <a:t>全探索：厳密だが計算量が膨大</a:t>
            </a:r>
            <a:endParaRPr kumimoji="1" lang="ja-JP" altLang="en-US" sz="3600"/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DA176F3F-7254-964D-A6C8-085CB647F009}"/>
              </a:ext>
            </a:extLst>
          </p:cNvPr>
          <p:cNvSpPr/>
          <p:nvPr/>
        </p:nvSpPr>
        <p:spPr>
          <a:xfrm>
            <a:off x="4139952" y="2852936"/>
            <a:ext cx="720080" cy="648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CFB6258-2EBB-B54D-A796-993D034D2C1E}"/>
              </a:ext>
            </a:extLst>
          </p:cNvPr>
          <p:cNvSpPr txBox="1"/>
          <p:nvPr/>
        </p:nvSpPr>
        <p:spPr>
          <a:xfrm>
            <a:off x="539552" y="378904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動的計画法：厳密で、かつ効率的</a:t>
            </a:r>
          </a:p>
        </p:txBody>
      </p:sp>
    </p:spTree>
    <p:extLst>
      <p:ext uri="{BB962C8B-B14F-4D97-AF65-F5344CB8AC3E}">
        <p14:creationId xmlns:p14="http://schemas.microsoft.com/office/powerpoint/2010/main" val="1847113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7C1E23A-4674-174C-B663-C318E6B3F7A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動的計画法</a:t>
            </a:r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B2DB8F2-DED2-3B4B-AA0B-C6CBF9D76F05}"/>
              </a:ext>
            </a:extLst>
          </p:cNvPr>
          <p:cNvSpPr txBox="1"/>
          <p:nvPr/>
        </p:nvSpPr>
        <p:spPr>
          <a:xfrm>
            <a:off x="1691680" y="908720"/>
            <a:ext cx="57534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>
                <a:solidFill>
                  <a:srgbClr val="FF0000"/>
                </a:solidFill>
              </a:rPr>
              <a:t>D</a:t>
            </a:r>
            <a:r>
              <a:rPr kumimoji="1" lang="en-US" altLang="ja-JP" sz="4000"/>
              <a:t>ynamic </a:t>
            </a:r>
            <a:r>
              <a:rPr kumimoji="1" lang="en-US" altLang="ja-JP" sz="4000">
                <a:solidFill>
                  <a:srgbClr val="FF0000"/>
                </a:solidFill>
              </a:rPr>
              <a:t>P</a:t>
            </a:r>
            <a:r>
              <a:rPr kumimoji="1" lang="en-US" altLang="ja-JP" sz="4000"/>
              <a:t>rogramming, </a:t>
            </a:r>
            <a:r>
              <a:rPr kumimoji="1" lang="en-US" altLang="ja-JP" sz="4000">
                <a:solidFill>
                  <a:srgbClr val="FF0000"/>
                </a:solidFill>
              </a:rPr>
              <a:t>DP</a:t>
            </a:r>
            <a:endParaRPr kumimoji="1" lang="ja-JP" altLang="en-US" sz="4000">
              <a:solidFill>
                <a:srgbClr val="FF0000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A4F6A2C-1EB2-0944-BF03-1F9A5DF50B00}"/>
              </a:ext>
            </a:extLst>
          </p:cNvPr>
          <p:cNvSpPr txBox="1"/>
          <p:nvPr/>
        </p:nvSpPr>
        <p:spPr>
          <a:xfrm>
            <a:off x="323528" y="2204864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/>
              <a:t>動的計画法が適用できる条件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179A72-E0A6-DD44-9EA8-8C0CA47501A2}"/>
              </a:ext>
            </a:extLst>
          </p:cNvPr>
          <p:cNvSpPr txBox="1"/>
          <p:nvPr/>
        </p:nvSpPr>
        <p:spPr>
          <a:xfrm>
            <a:off x="611560" y="3140968"/>
            <a:ext cx="831509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・大きな問題を小さな問題に分解できる</a:t>
            </a:r>
            <a:r>
              <a:rPr kumimoji="1" lang="en-US" altLang="ja-JP" sz="2800" dirty="0"/>
              <a:t>(</a:t>
            </a:r>
            <a:r>
              <a:rPr kumimoji="1" lang="ja-JP" altLang="en-US" sz="2800" dirty="0">
                <a:solidFill>
                  <a:srgbClr val="FF0000"/>
                </a:solidFill>
              </a:rPr>
              <a:t>分割統治</a:t>
            </a:r>
            <a:r>
              <a:rPr kumimoji="1" lang="en-US" altLang="ja-JP" sz="2800" dirty="0"/>
              <a:t>)</a:t>
            </a:r>
          </a:p>
          <a:p>
            <a:r>
              <a:rPr lang="ja-JP" altLang="en-US" sz="2800" dirty="0"/>
              <a:t>・小さな問題の結果が再利用可能である</a:t>
            </a:r>
            <a:r>
              <a:rPr lang="en-US" altLang="ja-JP" sz="2800" dirty="0"/>
              <a:t>(</a:t>
            </a:r>
            <a:r>
              <a:rPr lang="ja-JP" altLang="en-US" sz="2800" dirty="0">
                <a:solidFill>
                  <a:srgbClr val="FF0000"/>
                </a:solidFill>
              </a:rPr>
              <a:t>メモ化</a:t>
            </a:r>
            <a:r>
              <a:rPr lang="en-US" altLang="ja-JP" sz="2800" dirty="0"/>
              <a:t>)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058920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112F6BB-9117-2E4B-9D53-34791D87206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最短経路問題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11BB5F-7DD8-6A42-822A-4DDC07F9C204}"/>
              </a:ext>
            </a:extLst>
          </p:cNvPr>
          <p:cNvSpPr txBox="1"/>
          <p:nvPr/>
        </p:nvSpPr>
        <p:spPr>
          <a:xfrm>
            <a:off x="1115616" y="5661248"/>
            <a:ext cx="628890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目的地になるべく安く、早く着きたい</a:t>
            </a:r>
            <a:endParaRPr kumimoji="1" lang="en-US" altLang="ja-JP" sz="2800"/>
          </a:p>
          <a:p>
            <a:r>
              <a:rPr lang="ja-JP" altLang="en-US" sz="2800"/>
              <a:t>　→</a:t>
            </a:r>
            <a:r>
              <a:rPr lang="en-US" altLang="ja-JP" sz="2800"/>
              <a:t> </a:t>
            </a:r>
            <a:r>
              <a:rPr lang="ja-JP" altLang="en-US" sz="2800"/>
              <a:t>最短経路問題</a:t>
            </a:r>
            <a:endParaRPr kumimoji="1" lang="ja-JP" altLang="en-US" sz="2800"/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FD68B95B-ADB8-C74D-98F0-F84AB770A6AF}"/>
              </a:ext>
            </a:extLst>
          </p:cNvPr>
          <p:cNvSpPr/>
          <p:nvPr/>
        </p:nvSpPr>
        <p:spPr>
          <a:xfrm>
            <a:off x="1403648" y="3284984"/>
            <a:ext cx="720080" cy="7263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56C148C-6654-4040-A770-20F8B585C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67544" y="4149080"/>
            <a:ext cx="1872208" cy="1341749"/>
          </a:xfrm>
          <a:prstGeom prst="rect">
            <a:avLst/>
          </a:prstGeom>
        </p:spPr>
      </p:pic>
      <p:sp>
        <p:nvSpPr>
          <p:cNvPr id="6" name="円/楕円 5">
            <a:extLst>
              <a:ext uri="{FF2B5EF4-FFF2-40B4-BE49-F238E27FC236}">
                <a16:creationId xmlns:a16="http://schemas.microsoft.com/office/drawing/2014/main" id="{1DBFB2D6-D853-DD4C-BD7A-1BC2A8F837BB}"/>
              </a:ext>
            </a:extLst>
          </p:cNvPr>
          <p:cNvSpPr/>
          <p:nvPr/>
        </p:nvSpPr>
        <p:spPr>
          <a:xfrm>
            <a:off x="7164288" y="3284984"/>
            <a:ext cx="720080" cy="7263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577A17D3-C747-BA41-AB62-685B4FDE21CF}"/>
              </a:ext>
            </a:extLst>
          </p:cNvPr>
          <p:cNvSpPr/>
          <p:nvPr/>
        </p:nvSpPr>
        <p:spPr>
          <a:xfrm>
            <a:off x="5004048" y="1700808"/>
            <a:ext cx="720080" cy="7263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2D8A592E-494B-1B4F-A1A0-30F47D880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995936" y="4293096"/>
            <a:ext cx="1713126" cy="556766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10CD392D-F619-5041-A806-61347C72E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6516216" y="2276872"/>
            <a:ext cx="984890" cy="63728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0C8FD8FD-6189-3844-9FE0-FB86A78C5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742" y="4149080"/>
            <a:ext cx="1429134" cy="1293366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2676B3-F538-D54F-A874-60F4C8A7FBD2}"/>
              </a:ext>
            </a:extLst>
          </p:cNvPr>
          <p:cNvSpPr txBox="1"/>
          <p:nvPr/>
        </p:nvSpPr>
        <p:spPr>
          <a:xfrm>
            <a:off x="1619672" y="980728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現在地から目的地まで複数の経路がある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3E668606-65DE-5645-8E55-36356BD27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483768" y="1988840"/>
            <a:ext cx="1197563" cy="766440"/>
          </a:xfrm>
          <a:prstGeom prst="rect">
            <a:avLst/>
          </a:prstGeom>
        </p:spPr>
      </p:pic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F1E856D3-88A7-5E41-B257-C1AE0BD27FDB}"/>
              </a:ext>
            </a:extLst>
          </p:cNvPr>
          <p:cNvCxnSpPr/>
          <p:nvPr/>
        </p:nvCxnSpPr>
        <p:spPr>
          <a:xfrm flipV="1">
            <a:off x="2123728" y="2204864"/>
            <a:ext cx="2736304" cy="122413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EF6644DC-91E5-744C-B2DC-7AE58C888F77}"/>
              </a:ext>
            </a:extLst>
          </p:cNvPr>
          <p:cNvCxnSpPr>
            <a:cxnSpLocks/>
          </p:cNvCxnSpPr>
          <p:nvPr/>
        </p:nvCxnSpPr>
        <p:spPr>
          <a:xfrm>
            <a:off x="5724128" y="2348880"/>
            <a:ext cx="1440160" cy="108012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フリーフォーム 19">
            <a:extLst>
              <a:ext uri="{FF2B5EF4-FFF2-40B4-BE49-F238E27FC236}">
                <a16:creationId xmlns:a16="http://schemas.microsoft.com/office/drawing/2014/main" id="{5A211208-0934-FB4C-B7C5-420B101E4515}"/>
              </a:ext>
            </a:extLst>
          </p:cNvPr>
          <p:cNvSpPr/>
          <p:nvPr/>
        </p:nvSpPr>
        <p:spPr>
          <a:xfrm>
            <a:off x="2291255" y="3636579"/>
            <a:ext cx="4824248" cy="469138"/>
          </a:xfrm>
          <a:custGeom>
            <a:avLst/>
            <a:gdLst>
              <a:gd name="connsiteX0" fmla="*/ 0 w 4824248"/>
              <a:gd name="connsiteY0" fmla="*/ 0 h 469138"/>
              <a:gd name="connsiteX1" fmla="*/ 2795752 w 4824248"/>
              <a:gd name="connsiteY1" fmla="*/ 462455 h 469138"/>
              <a:gd name="connsiteX2" fmla="*/ 4824248 w 4824248"/>
              <a:gd name="connsiteY2" fmla="*/ 231228 h 469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24248" h="469138">
                <a:moveTo>
                  <a:pt x="0" y="0"/>
                </a:moveTo>
                <a:cubicBezTo>
                  <a:pt x="995855" y="211958"/>
                  <a:pt x="1991711" y="423917"/>
                  <a:pt x="2795752" y="462455"/>
                </a:cubicBezTo>
                <a:cubicBezTo>
                  <a:pt x="3599793" y="500993"/>
                  <a:pt x="4212020" y="366110"/>
                  <a:pt x="4824248" y="231228"/>
                </a:cubicBezTo>
              </a:path>
            </a:pathLst>
          </a:custGeom>
          <a:noFill/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493879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CBDBBFC-24C3-9C44-A07A-7649FF4117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</p:spPr>
        <p:txBody>
          <a:bodyPr/>
          <a:lstStyle/>
          <a:p>
            <a:r>
              <a:rPr kumimoji="1" lang="ja-JP" altLang="en-US"/>
              <a:t>最短経路問題</a:t>
            </a:r>
          </a:p>
        </p:txBody>
      </p:sp>
      <p:grpSp>
        <p:nvGrpSpPr>
          <p:cNvPr id="55" name="グループ化 54">
            <a:extLst>
              <a:ext uri="{FF2B5EF4-FFF2-40B4-BE49-F238E27FC236}">
                <a16:creationId xmlns:a16="http://schemas.microsoft.com/office/drawing/2014/main" id="{1A5AECA8-D536-2343-9713-02CDAB730C26}"/>
              </a:ext>
            </a:extLst>
          </p:cNvPr>
          <p:cNvGrpSpPr/>
          <p:nvPr/>
        </p:nvGrpSpPr>
        <p:grpSpPr>
          <a:xfrm>
            <a:off x="1187624" y="1700808"/>
            <a:ext cx="6226120" cy="3900855"/>
            <a:chOff x="1187624" y="1700808"/>
            <a:chExt cx="6226120" cy="3900855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BBDD855D-36B8-F040-80E8-87C9884BE736}"/>
                </a:ext>
              </a:extLst>
            </p:cNvPr>
            <p:cNvSpPr/>
            <p:nvPr/>
          </p:nvSpPr>
          <p:spPr>
            <a:xfrm>
              <a:off x="1187624" y="3581350"/>
              <a:ext cx="470136" cy="41931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91D8B90E-3832-7E4B-90E6-FD57CD5878C1}"/>
                </a:ext>
              </a:extLst>
            </p:cNvPr>
            <p:cNvSpPr/>
            <p:nvPr/>
          </p:nvSpPr>
          <p:spPr>
            <a:xfrm>
              <a:off x="2572618" y="2653786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B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9D90AA9-224C-EA4A-B24A-24F1A6945E47}"/>
                </a:ext>
              </a:extLst>
            </p:cNvPr>
            <p:cNvSpPr/>
            <p:nvPr/>
          </p:nvSpPr>
          <p:spPr>
            <a:xfrm>
              <a:off x="2572618" y="4445384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C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F98E53C0-AA2C-FC40-BF65-4609741AFBA2}"/>
                </a:ext>
              </a:extLst>
            </p:cNvPr>
            <p:cNvSpPr/>
            <p:nvPr/>
          </p:nvSpPr>
          <p:spPr>
            <a:xfrm>
              <a:off x="4021144" y="1700808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D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382E1CE8-0FE6-D347-AF42-423ADB05CDBB}"/>
                </a:ext>
              </a:extLst>
            </p:cNvPr>
            <p:cNvSpPr/>
            <p:nvPr/>
          </p:nvSpPr>
          <p:spPr>
            <a:xfrm>
              <a:off x="4021144" y="3492406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36F14A08-5C01-4946-830B-7101E4E956FB}"/>
                </a:ext>
              </a:extLst>
            </p:cNvPr>
            <p:cNvSpPr/>
            <p:nvPr/>
          </p:nvSpPr>
          <p:spPr>
            <a:xfrm>
              <a:off x="4021144" y="5182353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F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93FC1029-CCC4-0744-97DB-39A5F3ED1176}"/>
                </a:ext>
              </a:extLst>
            </p:cNvPr>
            <p:cNvSpPr/>
            <p:nvPr/>
          </p:nvSpPr>
          <p:spPr>
            <a:xfrm>
              <a:off x="5393432" y="2628373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G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59EBF6CF-5DC0-C840-916F-BF5188A89163}"/>
                </a:ext>
              </a:extLst>
            </p:cNvPr>
            <p:cNvSpPr/>
            <p:nvPr/>
          </p:nvSpPr>
          <p:spPr>
            <a:xfrm>
              <a:off x="5393432" y="4419971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3FF8B538-5F07-5042-AF01-9289ED4295A0}"/>
                </a:ext>
              </a:extLst>
            </p:cNvPr>
            <p:cNvSpPr/>
            <p:nvPr/>
          </p:nvSpPr>
          <p:spPr>
            <a:xfrm>
              <a:off x="6943608" y="3555938"/>
              <a:ext cx="470136" cy="41931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9022E27E-1C64-1F4D-B18F-CB9B597D882D}"/>
                </a:ext>
              </a:extLst>
            </p:cNvPr>
            <p:cNvCxnSpPr>
              <a:cxnSpLocks/>
              <a:stCxn id="3" idx="7"/>
              <a:endCxn id="4" idx="2"/>
            </p:cNvCxnSpPr>
            <p:nvPr/>
          </p:nvCxnSpPr>
          <p:spPr>
            <a:xfrm flipV="1">
              <a:off x="1588910" y="2863441"/>
              <a:ext cx="983708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F5B1143E-85FF-7843-912D-15FDC14C5761}"/>
                </a:ext>
              </a:extLst>
            </p:cNvPr>
            <p:cNvCxnSpPr>
              <a:cxnSpLocks/>
              <a:stCxn id="4" idx="7"/>
              <a:endCxn id="6" idx="2"/>
            </p:cNvCxnSpPr>
            <p:nvPr/>
          </p:nvCxnSpPr>
          <p:spPr>
            <a:xfrm flipV="1">
              <a:off x="2973904" y="1910463"/>
              <a:ext cx="1047240" cy="8047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00722B68-A1F9-7F43-9EDC-6F658A96165F}"/>
                </a:ext>
              </a:extLst>
            </p:cNvPr>
            <p:cNvCxnSpPr>
              <a:cxnSpLocks/>
              <a:stCxn id="6" idx="6"/>
              <a:endCxn id="9" idx="1"/>
            </p:cNvCxnSpPr>
            <p:nvPr/>
          </p:nvCxnSpPr>
          <p:spPr>
            <a:xfrm>
              <a:off x="4491280" y="1910463"/>
              <a:ext cx="971002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FA07788C-1F73-D740-BFD2-4B7D34B360CB}"/>
                </a:ext>
              </a:extLst>
            </p:cNvPr>
            <p:cNvCxnSpPr>
              <a:cxnSpLocks/>
              <a:stCxn id="9" idx="6"/>
              <a:endCxn id="11" idx="1"/>
            </p:cNvCxnSpPr>
            <p:nvPr/>
          </p:nvCxnSpPr>
          <p:spPr>
            <a:xfrm>
              <a:off x="5863567" y="2838028"/>
              <a:ext cx="1148891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3B38B4CA-0769-094D-B99D-36D817CAD438}"/>
                </a:ext>
              </a:extLst>
            </p:cNvPr>
            <p:cNvCxnSpPr>
              <a:stCxn id="3" idx="5"/>
              <a:endCxn id="5" idx="2"/>
            </p:cNvCxnSpPr>
            <p:nvPr/>
          </p:nvCxnSpPr>
          <p:spPr>
            <a:xfrm>
              <a:off x="1588910" y="3939254"/>
              <a:ext cx="983708" cy="7157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328DF0BE-0C32-F741-BAF3-EAA3FD62F956}"/>
                </a:ext>
              </a:extLst>
            </p:cNvPr>
            <p:cNvCxnSpPr>
              <a:stCxn id="5" idx="5"/>
              <a:endCxn id="8" idx="2"/>
            </p:cNvCxnSpPr>
            <p:nvPr/>
          </p:nvCxnSpPr>
          <p:spPr>
            <a:xfrm>
              <a:off x="2973904" y="4803287"/>
              <a:ext cx="1047240" cy="588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FA247BDC-08CF-9842-9087-46C5A4DF5868}"/>
                </a:ext>
              </a:extLst>
            </p:cNvPr>
            <p:cNvCxnSpPr>
              <a:stCxn id="8" idx="6"/>
              <a:endCxn id="10" idx="3"/>
            </p:cNvCxnSpPr>
            <p:nvPr/>
          </p:nvCxnSpPr>
          <p:spPr>
            <a:xfrm flipV="1">
              <a:off x="4491280" y="4777874"/>
              <a:ext cx="971002" cy="6141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E91086CE-6B1C-FC48-85CB-7AC1463ED662}"/>
                </a:ext>
              </a:extLst>
            </p:cNvPr>
            <p:cNvCxnSpPr>
              <a:stCxn id="10" idx="6"/>
              <a:endCxn id="11" idx="3"/>
            </p:cNvCxnSpPr>
            <p:nvPr/>
          </p:nvCxnSpPr>
          <p:spPr>
            <a:xfrm flipV="1">
              <a:off x="5863567" y="3913841"/>
              <a:ext cx="1148891" cy="7157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1D6BBE22-AD57-B94B-BF3E-CE516A41D007}"/>
                </a:ext>
              </a:extLst>
            </p:cNvPr>
            <p:cNvCxnSpPr>
              <a:stCxn id="4" idx="6"/>
              <a:endCxn id="7" idx="1"/>
            </p:cNvCxnSpPr>
            <p:nvPr/>
          </p:nvCxnSpPr>
          <p:spPr>
            <a:xfrm>
              <a:off x="3042754" y="2863441"/>
              <a:ext cx="1047240" cy="6903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D1D4DBDC-CD08-574A-BBBE-35EF28DDC198}"/>
                </a:ext>
              </a:extLst>
            </p:cNvPr>
            <p:cNvCxnSpPr>
              <a:cxnSpLocks/>
              <a:stCxn id="5" idx="7"/>
              <a:endCxn id="7" idx="3"/>
            </p:cNvCxnSpPr>
            <p:nvPr/>
          </p:nvCxnSpPr>
          <p:spPr>
            <a:xfrm flipV="1">
              <a:off x="2973904" y="3850309"/>
              <a:ext cx="1116089" cy="6564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1FE0A0DF-FF60-3C42-B4F6-835848DFDD34}"/>
                </a:ext>
              </a:extLst>
            </p:cNvPr>
            <p:cNvCxnSpPr>
              <a:stCxn id="7" idx="7"/>
              <a:endCxn id="9" idx="3"/>
            </p:cNvCxnSpPr>
            <p:nvPr/>
          </p:nvCxnSpPr>
          <p:spPr>
            <a:xfrm flipV="1">
              <a:off x="4422430" y="2986276"/>
              <a:ext cx="1039851" cy="5675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93EC42D2-9C93-B746-A9F2-66AF1F560743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4422430" y="3850309"/>
              <a:ext cx="1039851" cy="6310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1016C6ED-D6FF-E248-96CF-9E756C6F0077}"/>
                </a:ext>
              </a:extLst>
            </p:cNvPr>
            <p:cNvSpPr txBox="1"/>
            <p:nvPr/>
          </p:nvSpPr>
          <p:spPr>
            <a:xfrm>
              <a:off x="1873768" y="2869794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A898251-E780-8946-A605-44F5C449D2C8}"/>
                </a:ext>
              </a:extLst>
            </p:cNvPr>
            <p:cNvSpPr txBox="1"/>
            <p:nvPr/>
          </p:nvSpPr>
          <p:spPr>
            <a:xfrm>
              <a:off x="1835649" y="4254788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7</a:t>
              </a:r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5F20EAEC-DB69-CA47-8553-6A69CA595C36}"/>
                </a:ext>
              </a:extLst>
            </p:cNvPr>
            <p:cNvSpPr txBox="1"/>
            <p:nvPr/>
          </p:nvSpPr>
          <p:spPr>
            <a:xfrm>
              <a:off x="3220643" y="1954935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8</a:t>
              </a:r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E3CF2FD-0944-B140-BFD5-95C2DB444A96}"/>
                </a:ext>
              </a:extLst>
            </p:cNvPr>
            <p:cNvSpPr txBox="1"/>
            <p:nvPr/>
          </p:nvSpPr>
          <p:spPr>
            <a:xfrm>
              <a:off x="3487476" y="2857087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</a:t>
              </a:r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343DDBA9-7784-9A43-B80B-FC095C542417}"/>
                </a:ext>
              </a:extLst>
            </p:cNvPr>
            <p:cNvSpPr txBox="1"/>
            <p:nvPr/>
          </p:nvSpPr>
          <p:spPr>
            <a:xfrm>
              <a:off x="3284175" y="3822771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4D9A41C-976C-EA43-A388-4CFC50BE356B}"/>
                </a:ext>
              </a:extLst>
            </p:cNvPr>
            <p:cNvSpPr txBox="1"/>
            <p:nvPr/>
          </p:nvSpPr>
          <p:spPr>
            <a:xfrm>
              <a:off x="3296881" y="5055289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5A87DDD-4BAA-C741-92D1-3C5E64E1DF22}"/>
                </a:ext>
              </a:extLst>
            </p:cNvPr>
            <p:cNvSpPr txBox="1"/>
            <p:nvPr/>
          </p:nvSpPr>
          <p:spPr>
            <a:xfrm>
              <a:off x="5113892" y="1993054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15</a:t>
              </a:r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474BB8D1-6D46-3446-BD95-5DF5600C8F15}"/>
                </a:ext>
              </a:extLst>
            </p:cNvPr>
            <p:cNvSpPr txBox="1"/>
            <p:nvPr/>
          </p:nvSpPr>
          <p:spPr>
            <a:xfrm>
              <a:off x="4847058" y="3263691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10</a:t>
              </a:r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2F9CB3E8-FE5E-E042-8931-3706180F11B2}"/>
                </a:ext>
              </a:extLst>
            </p:cNvPr>
            <p:cNvSpPr txBox="1"/>
            <p:nvPr/>
          </p:nvSpPr>
          <p:spPr>
            <a:xfrm>
              <a:off x="4554811" y="4089605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12</a:t>
              </a:r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08214516-F8B9-E343-9B58-09207567C2C0}"/>
                </a:ext>
              </a:extLst>
            </p:cNvPr>
            <p:cNvSpPr txBox="1"/>
            <p:nvPr/>
          </p:nvSpPr>
          <p:spPr>
            <a:xfrm>
              <a:off x="6448060" y="2895207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</a:t>
              </a:r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3D7922B8-FFE2-B241-AF6E-288BF80D8A0B}"/>
                </a:ext>
              </a:extLst>
            </p:cNvPr>
            <p:cNvSpPr txBox="1"/>
            <p:nvPr/>
          </p:nvSpPr>
          <p:spPr>
            <a:xfrm>
              <a:off x="4847058" y="5042583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B2C1369F-A7CB-7048-9CB2-592D4292E55F}"/>
                </a:ext>
              </a:extLst>
            </p:cNvPr>
            <p:cNvSpPr txBox="1"/>
            <p:nvPr/>
          </p:nvSpPr>
          <p:spPr>
            <a:xfrm>
              <a:off x="6409941" y="4305613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2</a:t>
              </a:r>
              <a:endParaRPr kumimoji="1" lang="ja-JP" altLang="en-US"/>
            </a:p>
          </p:txBody>
        </p:sp>
      </p:grp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74906F44-ED42-F44E-863F-A3F9F1F6D556}"/>
              </a:ext>
            </a:extLst>
          </p:cNvPr>
          <p:cNvSpPr txBox="1"/>
          <p:nvPr/>
        </p:nvSpPr>
        <p:spPr>
          <a:xfrm>
            <a:off x="899592" y="1052736"/>
            <a:ext cx="7154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各辺に重み</a:t>
            </a:r>
            <a:r>
              <a:rPr kumimoji="1" lang="en-US" altLang="ja-JP" sz="2400"/>
              <a:t>(</a:t>
            </a:r>
            <a:r>
              <a:rPr kumimoji="1" lang="ja-JP" altLang="en-US" sz="2400"/>
              <a:t>コスト</a:t>
            </a:r>
            <a:r>
              <a:rPr kumimoji="1" lang="en-US" altLang="ja-JP" sz="2400"/>
              <a:t>)</a:t>
            </a:r>
            <a:r>
              <a:rPr kumimoji="1" lang="ja-JP" altLang="en-US" sz="2400"/>
              <a:t>が設定されているグラフがある</a:t>
            </a:r>
          </a:p>
        </p:txBody>
      </p:sp>
      <p:sp>
        <p:nvSpPr>
          <p:cNvPr id="50" name="円/楕円 49">
            <a:extLst>
              <a:ext uri="{FF2B5EF4-FFF2-40B4-BE49-F238E27FC236}">
                <a16:creationId xmlns:a16="http://schemas.microsoft.com/office/drawing/2014/main" id="{F9A49FE6-C0B4-7342-840A-6D424A4647EF}"/>
              </a:ext>
            </a:extLst>
          </p:cNvPr>
          <p:cNvSpPr/>
          <p:nvPr/>
        </p:nvSpPr>
        <p:spPr>
          <a:xfrm>
            <a:off x="1691680" y="5733256"/>
            <a:ext cx="375920" cy="33528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A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円/楕円 50">
            <a:extLst>
              <a:ext uri="{FF2B5EF4-FFF2-40B4-BE49-F238E27FC236}">
                <a16:creationId xmlns:a16="http://schemas.microsoft.com/office/drawing/2014/main" id="{63DAAF6D-A4B7-1549-98F0-1E0D059E3DE6}"/>
              </a:ext>
            </a:extLst>
          </p:cNvPr>
          <p:cNvSpPr/>
          <p:nvPr/>
        </p:nvSpPr>
        <p:spPr>
          <a:xfrm>
            <a:off x="2842945" y="5721836"/>
            <a:ext cx="375920" cy="33528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I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9854438-A7ED-8E4C-A7A6-21263D72CE44}"/>
              </a:ext>
            </a:extLst>
          </p:cNvPr>
          <p:cNvSpPr txBox="1"/>
          <p:nvPr/>
        </p:nvSpPr>
        <p:spPr>
          <a:xfrm>
            <a:off x="2123728" y="56612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から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39CBD663-B463-6840-95AB-4D08ACF21063}"/>
              </a:ext>
            </a:extLst>
          </p:cNvPr>
          <p:cNvSpPr txBox="1"/>
          <p:nvPr/>
        </p:nvSpPr>
        <p:spPr>
          <a:xfrm>
            <a:off x="3203848" y="566124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まで行きたい</a:t>
            </a:r>
            <a:endParaRPr kumimoji="1" lang="en-US" altLang="ja-JP" sz="2400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9CA9F14-6F6B-C24A-9E1D-A7FAE9631733}"/>
              </a:ext>
            </a:extLst>
          </p:cNvPr>
          <p:cNvSpPr/>
          <p:nvPr/>
        </p:nvSpPr>
        <p:spPr>
          <a:xfrm>
            <a:off x="1547664" y="6237312"/>
            <a:ext cx="60324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/>
              <a:t>その際、辺のコストの合計を最小にしたい</a:t>
            </a:r>
          </a:p>
        </p:txBody>
      </p:sp>
    </p:spTree>
    <p:extLst>
      <p:ext uri="{BB962C8B-B14F-4D97-AF65-F5344CB8AC3E}">
        <p14:creationId xmlns:p14="http://schemas.microsoft.com/office/powerpoint/2010/main" val="2554789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B40728-4479-5848-B5CB-0D6FA21616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最短経路問題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79AA3FE3-17D9-F44F-B06B-6066D1A0BBD5}"/>
              </a:ext>
            </a:extLst>
          </p:cNvPr>
          <p:cNvSpPr/>
          <p:nvPr/>
        </p:nvSpPr>
        <p:spPr>
          <a:xfrm>
            <a:off x="395536" y="1124744"/>
            <a:ext cx="264687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2400"/>
              <a:t>最短経路</a:t>
            </a:r>
            <a:endParaRPr lang="en-US" altLang="ja-JP" sz="2400"/>
          </a:p>
          <a:p>
            <a:r>
              <a:rPr lang="ja-JP" altLang="en-US" sz="2400"/>
              <a:t>コストの合計：</a:t>
            </a:r>
            <a:r>
              <a:rPr lang="en-US" altLang="ja-JP" sz="2400"/>
              <a:t>13</a:t>
            </a:r>
            <a:endParaRPr lang="ja-JP" altLang="en-US" sz="2400"/>
          </a:p>
        </p:txBody>
      </p: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B822903A-0229-734B-8470-1767FF5196F0}"/>
              </a:ext>
            </a:extLst>
          </p:cNvPr>
          <p:cNvGrpSpPr/>
          <p:nvPr/>
        </p:nvGrpSpPr>
        <p:grpSpPr>
          <a:xfrm>
            <a:off x="1691680" y="1484784"/>
            <a:ext cx="6027256" cy="3776260"/>
            <a:chOff x="1691680" y="1484784"/>
            <a:chExt cx="6027256" cy="3776260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1DC4F876-669D-0C45-BB70-0C16941172AD}"/>
                </a:ext>
              </a:extLst>
            </p:cNvPr>
            <p:cNvSpPr/>
            <p:nvPr/>
          </p:nvSpPr>
          <p:spPr>
            <a:xfrm>
              <a:off x="1691680" y="3305261"/>
              <a:ext cx="455119" cy="40591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0BEB7BBD-B0CF-A640-B5F1-2B483B889CA2}"/>
                </a:ext>
              </a:extLst>
            </p:cNvPr>
            <p:cNvSpPr/>
            <p:nvPr/>
          </p:nvSpPr>
          <p:spPr>
            <a:xfrm>
              <a:off x="3032437" y="2407323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B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38829501-C64E-4246-9F31-F016A88E10D6}"/>
                </a:ext>
              </a:extLst>
            </p:cNvPr>
            <p:cNvSpPr/>
            <p:nvPr/>
          </p:nvSpPr>
          <p:spPr>
            <a:xfrm>
              <a:off x="3032437" y="4141697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C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3F08CBB0-9D8D-EF41-8B8B-F3F5F099B170}"/>
                </a:ext>
              </a:extLst>
            </p:cNvPr>
            <p:cNvSpPr/>
            <p:nvPr/>
          </p:nvSpPr>
          <p:spPr>
            <a:xfrm>
              <a:off x="4434697" y="1484784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D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887DF85C-A367-B24F-ABD6-FD36DF290DD8}"/>
                </a:ext>
              </a:extLst>
            </p:cNvPr>
            <p:cNvSpPr/>
            <p:nvPr/>
          </p:nvSpPr>
          <p:spPr>
            <a:xfrm>
              <a:off x="4434697" y="3219158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EEA58C6-674E-714D-AC07-6D30FD26B10E}"/>
                </a:ext>
              </a:extLst>
            </p:cNvPr>
            <p:cNvSpPr/>
            <p:nvPr/>
          </p:nvSpPr>
          <p:spPr>
            <a:xfrm>
              <a:off x="4434697" y="4855127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F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E20226CE-F049-2A40-91D8-ADF273F2CF1F}"/>
                </a:ext>
              </a:extLst>
            </p:cNvPr>
            <p:cNvSpPr/>
            <p:nvPr/>
          </p:nvSpPr>
          <p:spPr>
            <a:xfrm>
              <a:off x="5763153" y="2382722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G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E9D59CB8-67B1-1441-B676-4D3205D9AF87}"/>
                </a:ext>
              </a:extLst>
            </p:cNvPr>
            <p:cNvSpPr/>
            <p:nvPr/>
          </p:nvSpPr>
          <p:spPr>
            <a:xfrm>
              <a:off x="5763153" y="4117096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150EE667-4449-E443-B572-DB5DA339AB1B}"/>
                </a:ext>
              </a:extLst>
            </p:cNvPr>
            <p:cNvSpPr/>
            <p:nvPr/>
          </p:nvSpPr>
          <p:spPr>
            <a:xfrm>
              <a:off x="7263817" y="3280660"/>
              <a:ext cx="455119" cy="40591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7F5C83B3-831F-B647-9B08-E57E8174F90E}"/>
                </a:ext>
              </a:extLst>
            </p:cNvPr>
            <p:cNvCxnSpPr>
              <a:cxnSpLocks/>
              <a:stCxn id="3" idx="7"/>
              <a:endCxn id="4" idx="2"/>
            </p:cNvCxnSpPr>
            <p:nvPr/>
          </p:nvCxnSpPr>
          <p:spPr>
            <a:xfrm flipV="1">
              <a:off x="2080149" y="2610282"/>
              <a:ext cx="952288" cy="75442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C7B12C2B-88CA-194C-95D2-AFBF18F5AE04}"/>
                </a:ext>
              </a:extLst>
            </p:cNvPr>
            <p:cNvCxnSpPr>
              <a:cxnSpLocks/>
              <a:stCxn id="4" idx="7"/>
              <a:endCxn id="6" idx="2"/>
            </p:cNvCxnSpPr>
            <p:nvPr/>
          </p:nvCxnSpPr>
          <p:spPr>
            <a:xfrm flipV="1">
              <a:off x="3420906" y="1687743"/>
              <a:ext cx="1013791" cy="779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C7D5FA91-72D4-1E4F-8AC2-8434A979C965}"/>
                </a:ext>
              </a:extLst>
            </p:cNvPr>
            <p:cNvCxnSpPr>
              <a:cxnSpLocks/>
              <a:stCxn id="6" idx="6"/>
              <a:endCxn id="9" idx="1"/>
            </p:cNvCxnSpPr>
            <p:nvPr/>
          </p:nvCxnSpPr>
          <p:spPr>
            <a:xfrm>
              <a:off x="4889816" y="1687743"/>
              <a:ext cx="939988" cy="7544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B293EB8F-87C1-214A-BE70-87EE03EAC5D3}"/>
                </a:ext>
              </a:extLst>
            </p:cNvPr>
            <p:cNvCxnSpPr>
              <a:cxnSpLocks/>
              <a:stCxn id="9" idx="6"/>
              <a:endCxn id="11" idx="1"/>
            </p:cNvCxnSpPr>
            <p:nvPr/>
          </p:nvCxnSpPr>
          <p:spPr>
            <a:xfrm>
              <a:off x="6218272" y="2585681"/>
              <a:ext cx="1112195" cy="7544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0E928D9F-8BDA-3643-8CEF-4186C6B49D4F}"/>
                </a:ext>
              </a:extLst>
            </p:cNvPr>
            <p:cNvCxnSpPr>
              <a:stCxn id="3" idx="5"/>
              <a:endCxn id="5" idx="2"/>
            </p:cNvCxnSpPr>
            <p:nvPr/>
          </p:nvCxnSpPr>
          <p:spPr>
            <a:xfrm>
              <a:off x="2080149" y="3651733"/>
              <a:ext cx="952288" cy="6929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61DF59D5-FBCC-524A-8C5B-6C832E01E7CD}"/>
                </a:ext>
              </a:extLst>
            </p:cNvPr>
            <p:cNvCxnSpPr>
              <a:stCxn id="5" idx="5"/>
              <a:endCxn id="8" idx="2"/>
            </p:cNvCxnSpPr>
            <p:nvPr/>
          </p:nvCxnSpPr>
          <p:spPr>
            <a:xfrm>
              <a:off x="3420906" y="4488168"/>
              <a:ext cx="1013791" cy="56991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6E9E8CE0-247F-6244-86EC-60DCAE98E356}"/>
                </a:ext>
              </a:extLst>
            </p:cNvPr>
            <p:cNvCxnSpPr>
              <a:cxnSpLocks/>
              <a:stCxn id="8" idx="6"/>
              <a:endCxn id="10" idx="3"/>
            </p:cNvCxnSpPr>
            <p:nvPr/>
          </p:nvCxnSpPr>
          <p:spPr>
            <a:xfrm flipV="1">
              <a:off x="4889816" y="4463567"/>
              <a:ext cx="939988" cy="594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E4B3FDA7-0DA2-2A48-B746-7814E981F7A1}"/>
                </a:ext>
              </a:extLst>
            </p:cNvPr>
            <p:cNvCxnSpPr>
              <a:stCxn id="10" idx="6"/>
              <a:endCxn id="11" idx="3"/>
            </p:cNvCxnSpPr>
            <p:nvPr/>
          </p:nvCxnSpPr>
          <p:spPr>
            <a:xfrm flipV="1">
              <a:off x="6218272" y="3627132"/>
              <a:ext cx="1112195" cy="69292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0CC65E0-0D99-5141-9BF1-C108394E9865}"/>
                </a:ext>
              </a:extLst>
            </p:cNvPr>
            <p:cNvCxnSpPr>
              <a:stCxn id="4" idx="6"/>
              <a:endCxn id="7" idx="1"/>
            </p:cNvCxnSpPr>
            <p:nvPr/>
          </p:nvCxnSpPr>
          <p:spPr>
            <a:xfrm>
              <a:off x="3487556" y="2610282"/>
              <a:ext cx="1013791" cy="66832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562EC433-8DA0-FE44-A088-7B914B12428F}"/>
                </a:ext>
              </a:extLst>
            </p:cNvPr>
            <p:cNvCxnSpPr>
              <a:cxnSpLocks/>
              <a:stCxn id="5" idx="7"/>
              <a:endCxn id="7" idx="3"/>
            </p:cNvCxnSpPr>
            <p:nvPr/>
          </p:nvCxnSpPr>
          <p:spPr>
            <a:xfrm flipV="1">
              <a:off x="3420906" y="3565629"/>
              <a:ext cx="1080441" cy="6355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6DF3E1D6-61FB-EE40-A3D3-5200722E2C6E}"/>
                </a:ext>
              </a:extLst>
            </p:cNvPr>
            <p:cNvCxnSpPr>
              <a:stCxn id="7" idx="7"/>
              <a:endCxn id="9" idx="3"/>
            </p:cNvCxnSpPr>
            <p:nvPr/>
          </p:nvCxnSpPr>
          <p:spPr>
            <a:xfrm flipV="1">
              <a:off x="4823165" y="2729194"/>
              <a:ext cx="1006638" cy="5494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D37DE7A2-EA05-534B-B8D1-F41377B646E2}"/>
                </a:ext>
              </a:extLst>
            </p:cNvPr>
            <p:cNvCxnSpPr>
              <a:stCxn id="7" idx="5"/>
              <a:endCxn id="10" idx="1"/>
            </p:cNvCxnSpPr>
            <p:nvPr/>
          </p:nvCxnSpPr>
          <p:spPr>
            <a:xfrm>
              <a:off x="4823165" y="3565629"/>
              <a:ext cx="1006638" cy="6109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A443B936-893D-334C-ACD8-E8208405919C}"/>
                </a:ext>
              </a:extLst>
            </p:cNvPr>
            <p:cNvSpPr txBox="1"/>
            <p:nvPr/>
          </p:nvSpPr>
          <p:spPr>
            <a:xfrm>
              <a:off x="2355908" y="2616432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0082FB7-C576-754D-90C5-F1F65D6A5FAF}"/>
                </a:ext>
              </a:extLst>
            </p:cNvPr>
            <p:cNvSpPr txBox="1"/>
            <p:nvPr/>
          </p:nvSpPr>
          <p:spPr>
            <a:xfrm>
              <a:off x="2319007" y="3957189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7</a:t>
              </a:r>
              <a:endParaRPr kumimoji="1" lang="ja-JP" altLang="en-US"/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A38AB11B-C27E-234E-920D-1BAC85E4B2DD}"/>
                </a:ext>
              </a:extLst>
            </p:cNvPr>
            <p:cNvSpPr txBox="1"/>
            <p:nvPr/>
          </p:nvSpPr>
          <p:spPr>
            <a:xfrm>
              <a:off x="3659764" y="1730794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8</a:t>
              </a:r>
              <a:endParaRPr kumimoji="1" lang="ja-JP" altLang="en-US"/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8694734-442C-D34E-A996-87C3F411530A}"/>
                </a:ext>
              </a:extLst>
            </p:cNvPr>
            <p:cNvSpPr txBox="1"/>
            <p:nvPr/>
          </p:nvSpPr>
          <p:spPr>
            <a:xfrm>
              <a:off x="3918075" y="2604131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</a:t>
              </a:r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AEA7E646-CD13-E94D-9B4D-6E6ACA955B2A}"/>
                </a:ext>
              </a:extLst>
            </p:cNvPr>
            <p:cNvSpPr txBox="1"/>
            <p:nvPr/>
          </p:nvSpPr>
          <p:spPr>
            <a:xfrm>
              <a:off x="3721266" y="3538971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1C437AA0-FE1A-4042-8FA6-30B5B77C1FD1}"/>
                </a:ext>
              </a:extLst>
            </p:cNvPr>
            <p:cNvSpPr txBox="1"/>
            <p:nvPr/>
          </p:nvSpPr>
          <p:spPr>
            <a:xfrm>
              <a:off x="3733567" y="4732122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90EC62E3-FAFA-3A45-AD14-07F0340EDCC7}"/>
                </a:ext>
              </a:extLst>
            </p:cNvPr>
            <p:cNvSpPr txBox="1"/>
            <p:nvPr/>
          </p:nvSpPr>
          <p:spPr>
            <a:xfrm>
              <a:off x="5492541" y="1767696"/>
              <a:ext cx="506917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15</a:t>
              </a:r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02E24BC4-ED18-2345-BE9E-A1555CB3A723}"/>
                </a:ext>
              </a:extLst>
            </p:cNvPr>
            <p:cNvSpPr txBox="1"/>
            <p:nvPr/>
          </p:nvSpPr>
          <p:spPr>
            <a:xfrm>
              <a:off x="5234230" y="2997748"/>
              <a:ext cx="506917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10</a:t>
              </a:r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E46EDB5-4F7A-154E-96ED-0D17DEDCCEFD}"/>
                </a:ext>
              </a:extLst>
            </p:cNvPr>
            <p:cNvSpPr txBox="1"/>
            <p:nvPr/>
          </p:nvSpPr>
          <p:spPr>
            <a:xfrm>
              <a:off x="4951318" y="3797282"/>
              <a:ext cx="506917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12</a:t>
              </a:r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EB694392-1FC4-8640-AA63-7A29D0F25989}"/>
                </a:ext>
              </a:extLst>
            </p:cNvPr>
            <p:cNvSpPr txBox="1"/>
            <p:nvPr/>
          </p:nvSpPr>
          <p:spPr>
            <a:xfrm>
              <a:off x="6784096" y="2641033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</a:t>
              </a:r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E7978B1D-BA7C-8C4E-A8F1-F13335B48A04}"/>
                </a:ext>
              </a:extLst>
            </p:cNvPr>
            <p:cNvSpPr txBox="1"/>
            <p:nvPr/>
          </p:nvSpPr>
          <p:spPr>
            <a:xfrm>
              <a:off x="5234230" y="4719821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AD043474-BB5A-0949-BA67-B21082FD8749}"/>
                </a:ext>
              </a:extLst>
            </p:cNvPr>
            <p:cNvSpPr txBox="1"/>
            <p:nvPr/>
          </p:nvSpPr>
          <p:spPr>
            <a:xfrm>
              <a:off x="6747195" y="4006391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2</a:t>
              </a:r>
              <a:endParaRPr kumimoji="1" lang="ja-JP" altLang="en-US"/>
            </a:p>
          </p:txBody>
        </p:sp>
      </p:grp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606D42C6-2C3D-3240-A998-6F18E127A5A5}"/>
              </a:ext>
            </a:extLst>
          </p:cNvPr>
          <p:cNvCxnSpPr>
            <a:cxnSpLocks/>
          </p:cNvCxnSpPr>
          <p:nvPr/>
        </p:nvCxnSpPr>
        <p:spPr>
          <a:xfrm flipV="1">
            <a:off x="1829073" y="1348781"/>
            <a:ext cx="996342" cy="1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543E8944-A317-3345-96A5-CDBDF2A002A2}"/>
              </a:ext>
            </a:extLst>
          </p:cNvPr>
          <p:cNvSpPr txBox="1"/>
          <p:nvPr/>
        </p:nvSpPr>
        <p:spPr>
          <a:xfrm>
            <a:off x="1115616" y="5805264"/>
            <a:ext cx="6878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この解をどうやって</a:t>
            </a:r>
            <a:r>
              <a:rPr kumimoji="1" lang="en-US" altLang="ja-JP" sz="2800"/>
              <a:t>(</a:t>
            </a:r>
            <a:r>
              <a:rPr kumimoji="1" lang="ja-JP" altLang="en-US" sz="2800"/>
              <a:t>効率的に</a:t>
            </a:r>
            <a:r>
              <a:rPr kumimoji="1" lang="en-US" altLang="ja-JP" sz="2800"/>
              <a:t>)</a:t>
            </a:r>
            <a:r>
              <a:rPr kumimoji="1" lang="ja-JP" altLang="en-US" sz="2800"/>
              <a:t>求めるか？</a:t>
            </a:r>
          </a:p>
        </p:txBody>
      </p:sp>
    </p:spTree>
    <p:extLst>
      <p:ext uri="{BB962C8B-B14F-4D97-AF65-F5344CB8AC3E}">
        <p14:creationId xmlns:p14="http://schemas.microsoft.com/office/powerpoint/2010/main" val="3381671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DA4DE3C-F976-F344-A827-301007637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最短経路問題の部分問題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0FF95B6-6908-B44C-83BB-5D325C375861}"/>
              </a:ext>
            </a:extLst>
          </p:cNvPr>
          <p:cNvGrpSpPr/>
          <p:nvPr/>
        </p:nvGrpSpPr>
        <p:grpSpPr>
          <a:xfrm>
            <a:off x="1619672" y="1268760"/>
            <a:ext cx="6379289" cy="2747000"/>
            <a:chOff x="2082800" y="1402080"/>
            <a:chExt cx="4978400" cy="2143760"/>
          </a:xfrm>
        </p:grpSpPr>
        <p:sp>
          <p:nvSpPr>
            <p:cNvPr id="3" name="フリーフォーム 2">
              <a:extLst>
                <a:ext uri="{FF2B5EF4-FFF2-40B4-BE49-F238E27FC236}">
                  <a16:creationId xmlns:a16="http://schemas.microsoft.com/office/drawing/2014/main" id="{82731FDB-220B-1142-A8C7-F58C07D5A078}"/>
                </a:ext>
              </a:extLst>
            </p:cNvPr>
            <p:cNvSpPr/>
            <p:nvPr/>
          </p:nvSpPr>
          <p:spPr>
            <a:xfrm>
              <a:off x="2265680" y="1787954"/>
              <a:ext cx="2204720" cy="752046"/>
            </a:xfrm>
            <a:custGeom>
              <a:avLst/>
              <a:gdLst>
                <a:gd name="connsiteX0" fmla="*/ 0 w 2286000"/>
                <a:gd name="connsiteY0" fmla="*/ 782526 h 782526"/>
                <a:gd name="connsiteX1" fmla="*/ 1229360 w 2286000"/>
                <a:gd name="connsiteY1" fmla="*/ 206 h 782526"/>
                <a:gd name="connsiteX2" fmla="*/ 2286000 w 2286000"/>
                <a:gd name="connsiteY2" fmla="*/ 721566 h 78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782526">
                  <a:moveTo>
                    <a:pt x="0" y="782526"/>
                  </a:moveTo>
                  <a:cubicBezTo>
                    <a:pt x="424180" y="396446"/>
                    <a:pt x="848360" y="10366"/>
                    <a:pt x="1229360" y="206"/>
                  </a:cubicBezTo>
                  <a:cubicBezTo>
                    <a:pt x="1610360" y="-9954"/>
                    <a:pt x="1948180" y="355806"/>
                    <a:pt x="2286000" y="72156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フリーフォーム 3">
              <a:extLst>
                <a:ext uri="{FF2B5EF4-FFF2-40B4-BE49-F238E27FC236}">
                  <a16:creationId xmlns:a16="http://schemas.microsoft.com/office/drawing/2014/main" id="{EB0B9A36-FAF8-704E-9D6F-ACAD8AAD2DD7}"/>
                </a:ext>
              </a:extLst>
            </p:cNvPr>
            <p:cNvSpPr/>
            <p:nvPr/>
          </p:nvSpPr>
          <p:spPr>
            <a:xfrm>
              <a:off x="4561840" y="1777794"/>
              <a:ext cx="2245360" cy="843486"/>
            </a:xfrm>
            <a:custGeom>
              <a:avLst/>
              <a:gdLst>
                <a:gd name="connsiteX0" fmla="*/ 0 w 2286000"/>
                <a:gd name="connsiteY0" fmla="*/ 782526 h 782526"/>
                <a:gd name="connsiteX1" fmla="*/ 1229360 w 2286000"/>
                <a:gd name="connsiteY1" fmla="*/ 206 h 782526"/>
                <a:gd name="connsiteX2" fmla="*/ 2286000 w 2286000"/>
                <a:gd name="connsiteY2" fmla="*/ 721566 h 78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782526">
                  <a:moveTo>
                    <a:pt x="0" y="782526"/>
                  </a:moveTo>
                  <a:cubicBezTo>
                    <a:pt x="424180" y="396446"/>
                    <a:pt x="848360" y="10366"/>
                    <a:pt x="1229360" y="206"/>
                  </a:cubicBezTo>
                  <a:cubicBezTo>
                    <a:pt x="1610360" y="-9954"/>
                    <a:pt x="1948180" y="355806"/>
                    <a:pt x="2286000" y="72156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フリーフォーム 4">
              <a:extLst>
                <a:ext uri="{FF2B5EF4-FFF2-40B4-BE49-F238E27FC236}">
                  <a16:creationId xmlns:a16="http://schemas.microsoft.com/office/drawing/2014/main" id="{B8D7D709-B0E8-214B-B151-0245B3EA3CF3}"/>
                </a:ext>
              </a:extLst>
            </p:cNvPr>
            <p:cNvSpPr/>
            <p:nvPr/>
          </p:nvSpPr>
          <p:spPr>
            <a:xfrm rot="10800000">
              <a:off x="2296160" y="2773474"/>
              <a:ext cx="2204720" cy="752046"/>
            </a:xfrm>
            <a:custGeom>
              <a:avLst/>
              <a:gdLst>
                <a:gd name="connsiteX0" fmla="*/ 0 w 2286000"/>
                <a:gd name="connsiteY0" fmla="*/ 782526 h 782526"/>
                <a:gd name="connsiteX1" fmla="*/ 1229360 w 2286000"/>
                <a:gd name="connsiteY1" fmla="*/ 206 h 782526"/>
                <a:gd name="connsiteX2" fmla="*/ 2286000 w 2286000"/>
                <a:gd name="connsiteY2" fmla="*/ 721566 h 78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782526">
                  <a:moveTo>
                    <a:pt x="0" y="782526"/>
                  </a:moveTo>
                  <a:cubicBezTo>
                    <a:pt x="424180" y="396446"/>
                    <a:pt x="848360" y="10366"/>
                    <a:pt x="1229360" y="206"/>
                  </a:cubicBezTo>
                  <a:cubicBezTo>
                    <a:pt x="1610360" y="-9954"/>
                    <a:pt x="1948180" y="355806"/>
                    <a:pt x="2286000" y="721566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" name="フリーフォーム 5">
              <a:extLst>
                <a:ext uri="{FF2B5EF4-FFF2-40B4-BE49-F238E27FC236}">
                  <a16:creationId xmlns:a16="http://schemas.microsoft.com/office/drawing/2014/main" id="{0C30FC2B-85D9-0348-8FF6-EF128019A15F}"/>
                </a:ext>
              </a:extLst>
            </p:cNvPr>
            <p:cNvSpPr/>
            <p:nvPr/>
          </p:nvSpPr>
          <p:spPr>
            <a:xfrm rot="10800000">
              <a:off x="4602480" y="2702354"/>
              <a:ext cx="2245360" cy="843486"/>
            </a:xfrm>
            <a:custGeom>
              <a:avLst/>
              <a:gdLst>
                <a:gd name="connsiteX0" fmla="*/ 0 w 2286000"/>
                <a:gd name="connsiteY0" fmla="*/ 782526 h 782526"/>
                <a:gd name="connsiteX1" fmla="*/ 1229360 w 2286000"/>
                <a:gd name="connsiteY1" fmla="*/ 206 h 782526"/>
                <a:gd name="connsiteX2" fmla="*/ 2286000 w 2286000"/>
                <a:gd name="connsiteY2" fmla="*/ 721566 h 782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86000" h="782526">
                  <a:moveTo>
                    <a:pt x="0" y="782526"/>
                  </a:moveTo>
                  <a:cubicBezTo>
                    <a:pt x="424180" y="396446"/>
                    <a:pt x="848360" y="10366"/>
                    <a:pt x="1229360" y="206"/>
                  </a:cubicBezTo>
                  <a:cubicBezTo>
                    <a:pt x="1610360" y="-9954"/>
                    <a:pt x="1948180" y="355806"/>
                    <a:pt x="2286000" y="721566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451BB097-E855-3F44-A4F0-9C449AD9FEF5}"/>
                </a:ext>
              </a:extLst>
            </p:cNvPr>
            <p:cNvSpPr/>
            <p:nvPr/>
          </p:nvSpPr>
          <p:spPr>
            <a:xfrm>
              <a:off x="2082800" y="2509520"/>
              <a:ext cx="375920" cy="3352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1E97430C-7522-4D4F-9F15-EADD8A902AFB}"/>
                </a:ext>
              </a:extLst>
            </p:cNvPr>
            <p:cNvSpPr/>
            <p:nvPr/>
          </p:nvSpPr>
          <p:spPr>
            <a:xfrm>
              <a:off x="4348480" y="2438400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AAC5C1AC-5823-B045-A324-D9E71D2EE8B8}"/>
                </a:ext>
              </a:extLst>
            </p:cNvPr>
            <p:cNvSpPr/>
            <p:nvPr/>
          </p:nvSpPr>
          <p:spPr>
            <a:xfrm>
              <a:off x="6685280" y="2489200"/>
              <a:ext cx="375920" cy="3352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6AC743CE-826E-B84D-8BD1-1E430F1AF1E4}"/>
                </a:ext>
              </a:extLst>
            </p:cNvPr>
            <p:cNvSpPr txBox="1"/>
            <p:nvPr/>
          </p:nvSpPr>
          <p:spPr>
            <a:xfrm>
              <a:off x="3251200" y="1402080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3D96DE4-6B4D-EE4E-AC48-7D3F708367BD}"/>
                </a:ext>
              </a:extLst>
            </p:cNvPr>
            <p:cNvSpPr txBox="1"/>
            <p:nvPr/>
          </p:nvSpPr>
          <p:spPr>
            <a:xfrm>
              <a:off x="5496560" y="3129280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10</a:t>
              </a:r>
              <a:endParaRPr kumimoji="1" lang="ja-JP" altLang="en-US"/>
            </a:p>
          </p:txBody>
        </p:sp>
      </p:grp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136015F-8030-E048-82D1-D115A6FA9D25}"/>
              </a:ext>
            </a:extLst>
          </p:cNvPr>
          <p:cNvSpPr txBox="1"/>
          <p:nvPr/>
        </p:nvSpPr>
        <p:spPr>
          <a:xfrm>
            <a:off x="827584" y="4221088"/>
            <a:ext cx="80121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もし最短経路が「</a:t>
            </a:r>
            <a:r>
              <a:rPr kumimoji="1" lang="en-US" altLang="ja-JP" sz="2800"/>
              <a:t>A – E – I </a:t>
            </a:r>
            <a:r>
              <a:rPr kumimoji="1" lang="ja-JP" altLang="en-US" sz="2800"/>
              <a:t>」という経路であれば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54F1A3E-7EDB-BD4A-BB57-CE5E844EB1B9}"/>
              </a:ext>
            </a:extLst>
          </p:cNvPr>
          <p:cNvSpPr txBox="1"/>
          <p:nvPr/>
        </p:nvSpPr>
        <p:spPr>
          <a:xfrm>
            <a:off x="179512" y="5301208"/>
            <a:ext cx="2621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/>
              <a:t>A</a:t>
            </a:r>
            <a:r>
              <a:rPr lang="ja-JP" altLang="en-US" sz="2400"/>
              <a:t>から</a:t>
            </a:r>
            <a:r>
              <a:rPr lang="en-US" altLang="ja-JP" sz="2400"/>
              <a:t>I</a:t>
            </a:r>
            <a:r>
              <a:rPr lang="ja-JP" altLang="en-US" sz="2400"/>
              <a:t>に含まれる</a:t>
            </a:r>
            <a:endParaRPr kumimoji="1" lang="en-US" altLang="ja-JP" sz="2400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2209F9B-68C8-BF49-BCBA-4F8139D3A2CD}"/>
              </a:ext>
            </a:extLst>
          </p:cNvPr>
          <p:cNvSpPr/>
          <p:nvPr/>
        </p:nvSpPr>
        <p:spPr>
          <a:xfrm>
            <a:off x="2699792" y="5157192"/>
            <a:ext cx="3096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2400"/>
              <a:t>「</a:t>
            </a:r>
            <a:r>
              <a:rPr lang="en-US" altLang="ja-JP" sz="2400"/>
              <a:t>A</a:t>
            </a:r>
            <a:r>
              <a:rPr lang="ja-JP" altLang="en-US" sz="2400"/>
              <a:t>から</a:t>
            </a:r>
            <a:r>
              <a:rPr lang="en-US" altLang="ja-JP" sz="2400"/>
              <a:t>E</a:t>
            </a:r>
            <a:r>
              <a:rPr lang="ja-JP" altLang="en-US" sz="2400"/>
              <a:t>」への経路</a:t>
            </a:r>
            <a:endParaRPr lang="en-US" altLang="ja-JP" sz="2400"/>
          </a:p>
          <a:p>
            <a:r>
              <a:rPr lang="ja-JP" altLang="en-US" sz="2400"/>
              <a:t>「</a:t>
            </a:r>
            <a:r>
              <a:rPr lang="en-US" altLang="ja-JP" sz="2400"/>
              <a:t>E</a:t>
            </a:r>
            <a:r>
              <a:rPr lang="ja-JP" altLang="en-US" sz="2400"/>
              <a:t>から</a:t>
            </a:r>
            <a:r>
              <a:rPr lang="en-US" altLang="ja-JP" sz="2400"/>
              <a:t>I</a:t>
            </a:r>
            <a:r>
              <a:rPr lang="ja-JP" altLang="en-US" sz="2400"/>
              <a:t>」への経路</a:t>
            </a:r>
            <a:endParaRPr lang="en-US" altLang="ja-JP" sz="240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E91A9F1-FEA4-9F45-9F48-4C067F937C9E}"/>
              </a:ext>
            </a:extLst>
          </p:cNvPr>
          <p:cNvSpPr txBox="1"/>
          <p:nvPr/>
        </p:nvSpPr>
        <p:spPr>
          <a:xfrm>
            <a:off x="5868144" y="53012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もそれぞれ最短</a:t>
            </a:r>
            <a:endParaRPr kumimoji="1" lang="en-US" altLang="ja-JP" sz="2400"/>
          </a:p>
        </p:txBody>
      </p:sp>
    </p:spTree>
    <p:extLst>
      <p:ext uri="{BB962C8B-B14F-4D97-AF65-F5344CB8AC3E}">
        <p14:creationId xmlns:p14="http://schemas.microsoft.com/office/powerpoint/2010/main" val="3932622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E7B2C81-3397-BC4B-875D-13B13A46E1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最短経路問題の部分問題</a:t>
            </a:r>
          </a:p>
        </p:txBody>
      </p:sp>
      <p:sp>
        <p:nvSpPr>
          <p:cNvPr id="4" name="フリーフォーム 3">
            <a:extLst>
              <a:ext uri="{FF2B5EF4-FFF2-40B4-BE49-F238E27FC236}">
                <a16:creationId xmlns:a16="http://schemas.microsoft.com/office/drawing/2014/main" id="{20D89640-46EF-394D-B004-560D873FBA50}"/>
              </a:ext>
            </a:extLst>
          </p:cNvPr>
          <p:cNvSpPr/>
          <p:nvPr/>
        </p:nvSpPr>
        <p:spPr>
          <a:xfrm>
            <a:off x="1691680" y="2924944"/>
            <a:ext cx="2825114" cy="963667"/>
          </a:xfrm>
          <a:custGeom>
            <a:avLst/>
            <a:gdLst>
              <a:gd name="connsiteX0" fmla="*/ 0 w 2286000"/>
              <a:gd name="connsiteY0" fmla="*/ 782526 h 782526"/>
              <a:gd name="connsiteX1" fmla="*/ 1229360 w 2286000"/>
              <a:gd name="connsiteY1" fmla="*/ 206 h 782526"/>
              <a:gd name="connsiteX2" fmla="*/ 2286000 w 2286000"/>
              <a:gd name="connsiteY2" fmla="*/ 721566 h 78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782526">
                <a:moveTo>
                  <a:pt x="0" y="782526"/>
                </a:moveTo>
                <a:cubicBezTo>
                  <a:pt x="424180" y="396446"/>
                  <a:pt x="848360" y="10366"/>
                  <a:pt x="1229360" y="206"/>
                </a:cubicBezTo>
                <a:cubicBezTo>
                  <a:pt x="1610360" y="-9954"/>
                  <a:pt x="1948180" y="355806"/>
                  <a:pt x="2286000" y="72156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フリーフォーム 4">
            <a:extLst>
              <a:ext uri="{FF2B5EF4-FFF2-40B4-BE49-F238E27FC236}">
                <a16:creationId xmlns:a16="http://schemas.microsoft.com/office/drawing/2014/main" id="{41DDDCE6-AD4A-224D-99CA-4C3721FD92C9}"/>
              </a:ext>
            </a:extLst>
          </p:cNvPr>
          <p:cNvSpPr/>
          <p:nvPr/>
        </p:nvSpPr>
        <p:spPr>
          <a:xfrm>
            <a:off x="4633965" y="2911925"/>
            <a:ext cx="2877190" cy="1080837"/>
          </a:xfrm>
          <a:custGeom>
            <a:avLst/>
            <a:gdLst>
              <a:gd name="connsiteX0" fmla="*/ 0 w 2286000"/>
              <a:gd name="connsiteY0" fmla="*/ 782526 h 782526"/>
              <a:gd name="connsiteX1" fmla="*/ 1229360 w 2286000"/>
              <a:gd name="connsiteY1" fmla="*/ 206 h 782526"/>
              <a:gd name="connsiteX2" fmla="*/ 2286000 w 2286000"/>
              <a:gd name="connsiteY2" fmla="*/ 721566 h 78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782526">
                <a:moveTo>
                  <a:pt x="0" y="782526"/>
                </a:moveTo>
                <a:cubicBezTo>
                  <a:pt x="424180" y="396446"/>
                  <a:pt x="848360" y="10366"/>
                  <a:pt x="1229360" y="206"/>
                </a:cubicBezTo>
                <a:cubicBezTo>
                  <a:pt x="1610360" y="-9954"/>
                  <a:pt x="1948180" y="355806"/>
                  <a:pt x="2286000" y="721566"/>
                </a:cubicBezTo>
              </a:path>
            </a:pathLst>
          </a:cu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フリーフォーム 5">
            <a:extLst>
              <a:ext uri="{FF2B5EF4-FFF2-40B4-BE49-F238E27FC236}">
                <a16:creationId xmlns:a16="http://schemas.microsoft.com/office/drawing/2014/main" id="{723AA585-97DE-9344-94C8-20487B22F6BF}"/>
              </a:ext>
            </a:extLst>
          </p:cNvPr>
          <p:cNvSpPr/>
          <p:nvPr/>
        </p:nvSpPr>
        <p:spPr>
          <a:xfrm rot="10800000">
            <a:off x="1730737" y="4187783"/>
            <a:ext cx="2825114" cy="963667"/>
          </a:xfrm>
          <a:custGeom>
            <a:avLst/>
            <a:gdLst>
              <a:gd name="connsiteX0" fmla="*/ 0 w 2286000"/>
              <a:gd name="connsiteY0" fmla="*/ 782526 h 782526"/>
              <a:gd name="connsiteX1" fmla="*/ 1229360 w 2286000"/>
              <a:gd name="connsiteY1" fmla="*/ 206 h 782526"/>
              <a:gd name="connsiteX2" fmla="*/ 2286000 w 2286000"/>
              <a:gd name="connsiteY2" fmla="*/ 721566 h 78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782526">
                <a:moveTo>
                  <a:pt x="0" y="782526"/>
                </a:moveTo>
                <a:cubicBezTo>
                  <a:pt x="424180" y="396446"/>
                  <a:pt x="848360" y="10366"/>
                  <a:pt x="1229360" y="206"/>
                </a:cubicBezTo>
                <a:cubicBezTo>
                  <a:pt x="1610360" y="-9954"/>
                  <a:pt x="1948180" y="355806"/>
                  <a:pt x="2286000" y="721566"/>
                </a:cubicBezTo>
              </a:path>
            </a:pathLst>
          </a:custGeom>
          <a:noFill/>
          <a:ln w="38100">
            <a:solidFill>
              <a:srgbClr val="011893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フリーフォーム 6">
            <a:extLst>
              <a:ext uri="{FF2B5EF4-FFF2-40B4-BE49-F238E27FC236}">
                <a16:creationId xmlns:a16="http://schemas.microsoft.com/office/drawing/2014/main" id="{B2ED4845-4A64-1B46-B395-E7184D086F2C}"/>
              </a:ext>
            </a:extLst>
          </p:cNvPr>
          <p:cNvSpPr/>
          <p:nvPr/>
        </p:nvSpPr>
        <p:spPr>
          <a:xfrm rot="10800000">
            <a:off x="4686040" y="4096651"/>
            <a:ext cx="2877190" cy="1080837"/>
          </a:xfrm>
          <a:custGeom>
            <a:avLst/>
            <a:gdLst>
              <a:gd name="connsiteX0" fmla="*/ 0 w 2286000"/>
              <a:gd name="connsiteY0" fmla="*/ 782526 h 782526"/>
              <a:gd name="connsiteX1" fmla="*/ 1229360 w 2286000"/>
              <a:gd name="connsiteY1" fmla="*/ 206 h 782526"/>
              <a:gd name="connsiteX2" fmla="*/ 2286000 w 2286000"/>
              <a:gd name="connsiteY2" fmla="*/ 721566 h 782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782526">
                <a:moveTo>
                  <a:pt x="0" y="782526"/>
                </a:moveTo>
                <a:cubicBezTo>
                  <a:pt x="424180" y="396446"/>
                  <a:pt x="848360" y="10366"/>
                  <a:pt x="1229360" y="206"/>
                </a:cubicBezTo>
                <a:cubicBezTo>
                  <a:pt x="1610360" y="-9954"/>
                  <a:pt x="1948180" y="355806"/>
                  <a:pt x="2286000" y="721566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C02D874C-CDA7-3D48-A9B4-CEA8473F1E5E}"/>
              </a:ext>
            </a:extLst>
          </p:cNvPr>
          <p:cNvSpPr/>
          <p:nvPr/>
        </p:nvSpPr>
        <p:spPr>
          <a:xfrm>
            <a:off x="1457339" y="3849554"/>
            <a:ext cx="481701" cy="429626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A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F26504BE-E153-7849-BF89-0903C707B969}"/>
              </a:ext>
            </a:extLst>
          </p:cNvPr>
          <p:cNvSpPr/>
          <p:nvPr/>
        </p:nvSpPr>
        <p:spPr>
          <a:xfrm>
            <a:off x="4360566" y="3758422"/>
            <a:ext cx="481701" cy="429626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4E5CC93B-C5A4-244B-83EF-A7BB527D4BA4}"/>
              </a:ext>
            </a:extLst>
          </p:cNvPr>
          <p:cNvSpPr/>
          <p:nvPr/>
        </p:nvSpPr>
        <p:spPr>
          <a:xfrm>
            <a:off x="7354927" y="3823516"/>
            <a:ext cx="481701" cy="429626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I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6F2332-A09E-5449-888F-EB768F7DA444}"/>
              </a:ext>
            </a:extLst>
          </p:cNvPr>
          <p:cNvSpPr txBox="1"/>
          <p:nvPr/>
        </p:nvSpPr>
        <p:spPr>
          <a:xfrm>
            <a:off x="2954519" y="2430488"/>
            <a:ext cx="386578" cy="473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</a:t>
            </a:r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1239985-E532-F148-AA2A-93652268E56C}"/>
              </a:ext>
            </a:extLst>
          </p:cNvPr>
          <p:cNvSpPr txBox="1"/>
          <p:nvPr/>
        </p:nvSpPr>
        <p:spPr>
          <a:xfrm>
            <a:off x="5831709" y="4643711"/>
            <a:ext cx="536525" cy="4732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10</a:t>
            </a:r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A38E9E9-B341-6D4D-8ECB-78110489E428}"/>
              </a:ext>
            </a:extLst>
          </p:cNvPr>
          <p:cNvSpPr txBox="1"/>
          <p:nvPr/>
        </p:nvSpPr>
        <p:spPr>
          <a:xfrm>
            <a:off x="2969507" y="5238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642C455-8746-F44A-9FC4-75E27092E0E4}"/>
              </a:ext>
            </a:extLst>
          </p:cNvPr>
          <p:cNvSpPr txBox="1"/>
          <p:nvPr/>
        </p:nvSpPr>
        <p:spPr>
          <a:xfrm>
            <a:off x="323528" y="980728"/>
            <a:ext cx="89530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もし</a:t>
            </a:r>
            <a:r>
              <a:rPr kumimoji="1" lang="en-US" altLang="ja-JP" sz="2400"/>
              <a:t>A-E</a:t>
            </a:r>
            <a:r>
              <a:rPr kumimoji="1" lang="ja-JP" altLang="en-US" sz="2400"/>
              <a:t>に、より低コストな経路があったら？</a:t>
            </a:r>
            <a:endParaRPr kumimoji="1" lang="en-US" altLang="ja-JP" sz="2400"/>
          </a:p>
          <a:p>
            <a:r>
              <a:rPr lang="en-US" altLang="ja-JP" sz="2400"/>
              <a:t>A-E</a:t>
            </a:r>
            <a:r>
              <a:rPr lang="ja-JP" altLang="en-US" sz="2400"/>
              <a:t>の経路としてそちらを選んだ方がトータルコストが下がる</a:t>
            </a:r>
            <a:endParaRPr lang="en-US" altLang="ja-JP" sz="2400"/>
          </a:p>
          <a:p>
            <a:r>
              <a:rPr kumimoji="1" lang="en-US" altLang="ja-JP" sz="2400"/>
              <a:t>A-E-I</a:t>
            </a:r>
            <a:r>
              <a:rPr kumimoji="1" lang="ja-JP" altLang="en-US" sz="2400"/>
              <a:t>が最短経路であることに矛盾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E5DDA6E-D51B-BA42-A525-2F2357A4F544}"/>
              </a:ext>
            </a:extLst>
          </p:cNvPr>
          <p:cNvSpPr txBox="1"/>
          <p:nvPr/>
        </p:nvSpPr>
        <p:spPr>
          <a:xfrm>
            <a:off x="1115616" y="5589240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最短経路に含まれる任意の二点間経路は最短</a:t>
            </a:r>
          </a:p>
        </p:txBody>
      </p:sp>
    </p:spTree>
    <p:extLst>
      <p:ext uri="{BB962C8B-B14F-4D97-AF65-F5344CB8AC3E}">
        <p14:creationId xmlns:p14="http://schemas.microsoft.com/office/powerpoint/2010/main" val="1114635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C15FE84-6BA3-CE4B-9520-44B46F8FB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最短経路問題</a:t>
            </a:r>
          </a:p>
        </p:txBody>
      </p:sp>
      <p:sp>
        <p:nvSpPr>
          <p:cNvPr id="3" name="円/楕円 2">
            <a:extLst>
              <a:ext uri="{FF2B5EF4-FFF2-40B4-BE49-F238E27FC236}">
                <a16:creationId xmlns:a16="http://schemas.microsoft.com/office/drawing/2014/main" id="{DFCC39FC-567B-8E49-A35A-219B39964FEA}"/>
              </a:ext>
            </a:extLst>
          </p:cNvPr>
          <p:cNvSpPr/>
          <p:nvPr/>
        </p:nvSpPr>
        <p:spPr>
          <a:xfrm>
            <a:off x="1162416" y="3412173"/>
            <a:ext cx="470136" cy="41931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A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円/楕円 3">
            <a:extLst>
              <a:ext uri="{FF2B5EF4-FFF2-40B4-BE49-F238E27FC236}">
                <a16:creationId xmlns:a16="http://schemas.microsoft.com/office/drawing/2014/main" id="{B26D2EA1-1E94-384E-BB93-13F83110D8AB}"/>
              </a:ext>
            </a:extLst>
          </p:cNvPr>
          <p:cNvSpPr/>
          <p:nvPr/>
        </p:nvSpPr>
        <p:spPr>
          <a:xfrm>
            <a:off x="2547410" y="2484609"/>
            <a:ext cx="470136" cy="419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B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円/楕円 4">
            <a:extLst>
              <a:ext uri="{FF2B5EF4-FFF2-40B4-BE49-F238E27FC236}">
                <a16:creationId xmlns:a16="http://schemas.microsoft.com/office/drawing/2014/main" id="{20D73981-0208-FE40-9C3D-00552EF17007}"/>
              </a:ext>
            </a:extLst>
          </p:cNvPr>
          <p:cNvSpPr/>
          <p:nvPr/>
        </p:nvSpPr>
        <p:spPr>
          <a:xfrm>
            <a:off x="2547410" y="4276207"/>
            <a:ext cx="470136" cy="419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C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9B456F24-CEC7-A440-82C0-389B78D4783F}"/>
              </a:ext>
            </a:extLst>
          </p:cNvPr>
          <p:cNvSpPr/>
          <p:nvPr/>
        </p:nvSpPr>
        <p:spPr>
          <a:xfrm>
            <a:off x="3995936" y="1531631"/>
            <a:ext cx="470136" cy="419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D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41AC5C77-A9AA-D440-8C72-7914DEE1197E}"/>
              </a:ext>
            </a:extLst>
          </p:cNvPr>
          <p:cNvSpPr/>
          <p:nvPr/>
        </p:nvSpPr>
        <p:spPr>
          <a:xfrm>
            <a:off x="3995936" y="3323229"/>
            <a:ext cx="470136" cy="419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E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8" name="円/楕円 7">
            <a:extLst>
              <a:ext uri="{FF2B5EF4-FFF2-40B4-BE49-F238E27FC236}">
                <a16:creationId xmlns:a16="http://schemas.microsoft.com/office/drawing/2014/main" id="{7170277B-5644-CC4F-9F4B-309D1870D8A5}"/>
              </a:ext>
            </a:extLst>
          </p:cNvPr>
          <p:cNvSpPr/>
          <p:nvPr/>
        </p:nvSpPr>
        <p:spPr>
          <a:xfrm>
            <a:off x="3995936" y="5013176"/>
            <a:ext cx="470136" cy="41931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>
                <a:solidFill>
                  <a:schemeClr val="tx1"/>
                </a:solidFill>
              </a:rPr>
              <a:t>F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円/楕円 8">
            <a:extLst>
              <a:ext uri="{FF2B5EF4-FFF2-40B4-BE49-F238E27FC236}">
                <a16:creationId xmlns:a16="http://schemas.microsoft.com/office/drawing/2014/main" id="{7BA5A5DA-323B-1942-AF9E-7A6B7909D518}"/>
              </a:ext>
            </a:extLst>
          </p:cNvPr>
          <p:cNvSpPr/>
          <p:nvPr/>
        </p:nvSpPr>
        <p:spPr>
          <a:xfrm>
            <a:off x="5368224" y="2459196"/>
            <a:ext cx="470136" cy="41931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G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94B530C3-0EDC-6C4F-B346-5164F8D17A54}"/>
              </a:ext>
            </a:extLst>
          </p:cNvPr>
          <p:cNvSpPr/>
          <p:nvPr/>
        </p:nvSpPr>
        <p:spPr>
          <a:xfrm>
            <a:off x="5368224" y="4250794"/>
            <a:ext cx="470136" cy="41931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H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F1D060FF-8134-3B41-8219-D9FBE7F89A35}"/>
              </a:ext>
            </a:extLst>
          </p:cNvPr>
          <p:cNvSpPr/>
          <p:nvPr/>
        </p:nvSpPr>
        <p:spPr>
          <a:xfrm>
            <a:off x="6918400" y="3386761"/>
            <a:ext cx="470136" cy="41931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chemeClr val="tx1"/>
                </a:solidFill>
              </a:rPr>
              <a:t>I</a:t>
            </a:r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B56B350-FD4F-5A4D-A358-DB507EF79808}"/>
              </a:ext>
            </a:extLst>
          </p:cNvPr>
          <p:cNvCxnSpPr>
            <a:cxnSpLocks/>
            <a:stCxn id="3" idx="7"/>
            <a:endCxn id="4" idx="2"/>
          </p:cNvCxnSpPr>
          <p:nvPr/>
        </p:nvCxnSpPr>
        <p:spPr>
          <a:xfrm flipV="1">
            <a:off x="1563702" y="2694264"/>
            <a:ext cx="983708" cy="779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5C89780-67EA-B84A-807D-3D1511AE9517}"/>
              </a:ext>
            </a:extLst>
          </p:cNvPr>
          <p:cNvCxnSpPr>
            <a:cxnSpLocks/>
            <a:stCxn id="4" idx="7"/>
            <a:endCxn id="6" idx="2"/>
          </p:cNvCxnSpPr>
          <p:nvPr/>
        </p:nvCxnSpPr>
        <p:spPr>
          <a:xfrm flipV="1">
            <a:off x="2948696" y="1741286"/>
            <a:ext cx="1047240" cy="80473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9F632733-4796-324D-BE3B-E13733FB631B}"/>
              </a:ext>
            </a:extLst>
          </p:cNvPr>
          <p:cNvCxnSpPr>
            <a:cxnSpLocks/>
            <a:stCxn id="6" idx="6"/>
            <a:endCxn id="9" idx="1"/>
          </p:cNvCxnSpPr>
          <p:nvPr/>
        </p:nvCxnSpPr>
        <p:spPr>
          <a:xfrm>
            <a:off x="4466072" y="1741286"/>
            <a:ext cx="971002" cy="779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1EFE607-CA39-0F43-AB86-13D9EF23A490}"/>
              </a:ext>
            </a:extLst>
          </p:cNvPr>
          <p:cNvCxnSpPr>
            <a:cxnSpLocks/>
            <a:stCxn id="9" idx="6"/>
            <a:endCxn id="11" idx="1"/>
          </p:cNvCxnSpPr>
          <p:nvPr/>
        </p:nvCxnSpPr>
        <p:spPr>
          <a:xfrm>
            <a:off x="5838359" y="2668851"/>
            <a:ext cx="1148891" cy="7793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CD65B9B-1F4E-E04C-8189-6281136075FC}"/>
              </a:ext>
            </a:extLst>
          </p:cNvPr>
          <p:cNvCxnSpPr>
            <a:stCxn id="3" idx="5"/>
            <a:endCxn id="5" idx="2"/>
          </p:cNvCxnSpPr>
          <p:nvPr/>
        </p:nvCxnSpPr>
        <p:spPr>
          <a:xfrm>
            <a:off x="1563702" y="3770077"/>
            <a:ext cx="983708" cy="7157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3B31FEED-5541-6644-A46D-5267F570EDA3}"/>
              </a:ext>
            </a:extLst>
          </p:cNvPr>
          <p:cNvCxnSpPr>
            <a:stCxn id="5" idx="5"/>
            <a:endCxn id="8" idx="2"/>
          </p:cNvCxnSpPr>
          <p:nvPr/>
        </p:nvCxnSpPr>
        <p:spPr>
          <a:xfrm>
            <a:off x="2948696" y="4634110"/>
            <a:ext cx="1047240" cy="58872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55168521-0A8A-434B-AB0E-F765D9D17E1B}"/>
              </a:ext>
            </a:extLst>
          </p:cNvPr>
          <p:cNvCxnSpPr>
            <a:stCxn id="8" idx="6"/>
            <a:endCxn id="10" idx="3"/>
          </p:cNvCxnSpPr>
          <p:nvPr/>
        </p:nvCxnSpPr>
        <p:spPr>
          <a:xfrm flipV="1">
            <a:off x="4466072" y="4608697"/>
            <a:ext cx="971002" cy="61413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DF747A1C-DEC3-F843-AD87-1E474560F0F6}"/>
              </a:ext>
            </a:extLst>
          </p:cNvPr>
          <p:cNvCxnSpPr>
            <a:stCxn id="10" idx="6"/>
            <a:endCxn id="11" idx="3"/>
          </p:cNvCxnSpPr>
          <p:nvPr/>
        </p:nvCxnSpPr>
        <p:spPr>
          <a:xfrm flipV="1">
            <a:off x="5838359" y="3744664"/>
            <a:ext cx="1148891" cy="71578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4EFC655-38EA-834D-AA8F-11B06C44010B}"/>
              </a:ext>
            </a:extLst>
          </p:cNvPr>
          <p:cNvCxnSpPr>
            <a:stCxn id="4" idx="6"/>
            <a:endCxn id="7" idx="1"/>
          </p:cNvCxnSpPr>
          <p:nvPr/>
        </p:nvCxnSpPr>
        <p:spPr>
          <a:xfrm>
            <a:off x="3017546" y="2694264"/>
            <a:ext cx="1047240" cy="6903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3CF4CCE9-5CC0-2E48-B212-F106D9BCE92B}"/>
              </a:ext>
            </a:extLst>
          </p:cNvPr>
          <p:cNvCxnSpPr>
            <a:cxnSpLocks/>
            <a:stCxn id="5" idx="7"/>
            <a:endCxn id="7" idx="3"/>
          </p:cNvCxnSpPr>
          <p:nvPr/>
        </p:nvCxnSpPr>
        <p:spPr>
          <a:xfrm flipV="1">
            <a:off x="2948696" y="3681132"/>
            <a:ext cx="1116089" cy="656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3AB9E0CD-B2C1-E54E-8BB0-FDBD45B756D1}"/>
              </a:ext>
            </a:extLst>
          </p:cNvPr>
          <p:cNvCxnSpPr>
            <a:stCxn id="7" idx="7"/>
            <a:endCxn id="9" idx="3"/>
          </p:cNvCxnSpPr>
          <p:nvPr/>
        </p:nvCxnSpPr>
        <p:spPr>
          <a:xfrm flipV="1">
            <a:off x="4397222" y="2817099"/>
            <a:ext cx="1039851" cy="56753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429F8ADC-70AF-7F41-B895-BBC937114693}"/>
              </a:ext>
            </a:extLst>
          </p:cNvPr>
          <p:cNvCxnSpPr>
            <a:stCxn id="7" idx="5"/>
            <a:endCxn id="10" idx="1"/>
          </p:cNvCxnSpPr>
          <p:nvPr/>
        </p:nvCxnSpPr>
        <p:spPr>
          <a:xfrm>
            <a:off x="4397222" y="3681132"/>
            <a:ext cx="1039851" cy="631069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CE5ED3B-50B8-6F44-8969-A029CFE7C1A8}"/>
              </a:ext>
            </a:extLst>
          </p:cNvPr>
          <p:cNvSpPr txBox="1"/>
          <p:nvPr/>
        </p:nvSpPr>
        <p:spPr>
          <a:xfrm>
            <a:off x="6422852" y="2726030"/>
            <a:ext cx="377297" cy="461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1</a:t>
            </a:r>
            <a:endParaRPr kumimoji="1" lang="ja-JP" altLang="en-US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45C8B6F0-E169-2142-8190-13F454954A5E}"/>
              </a:ext>
            </a:extLst>
          </p:cNvPr>
          <p:cNvSpPr txBox="1"/>
          <p:nvPr/>
        </p:nvSpPr>
        <p:spPr>
          <a:xfrm>
            <a:off x="6384733" y="4136436"/>
            <a:ext cx="377297" cy="4618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/>
              <a:t>2</a:t>
            </a:r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911712E-9C5A-9A40-AA30-E573CBB3F4B0}"/>
              </a:ext>
            </a:extLst>
          </p:cNvPr>
          <p:cNvSpPr txBox="1"/>
          <p:nvPr/>
        </p:nvSpPr>
        <p:spPr>
          <a:xfrm>
            <a:off x="539552" y="980728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いま、「部分問題」が解けているとする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A4B9992-2E7A-9B46-A54A-2081EF75B4A4}"/>
              </a:ext>
            </a:extLst>
          </p:cNvPr>
          <p:cNvSpPr txBox="1"/>
          <p:nvPr/>
        </p:nvSpPr>
        <p:spPr>
          <a:xfrm>
            <a:off x="1043608" y="5661248"/>
            <a:ext cx="3079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A</a:t>
            </a:r>
            <a:r>
              <a:rPr kumimoji="1" lang="ja-JP" altLang="en-US" sz="2400"/>
              <a:t>から</a:t>
            </a:r>
            <a:r>
              <a:rPr kumimoji="1" lang="en-US" altLang="ja-JP" sz="2400"/>
              <a:t>G</a:t>
            </a:r>
            <a:r>
              <a:rPr kumimoji="1" lang="ja-JP" altLang="en-US" sz="2400"/>
              <a:t>への最短経路</a:t>
            </a:r>
            <a:endParaRPr kumimoji="1" lang="en-US" altLang="ja-JP" sz="2400"/>
          </a:p>
          <a:p>
            <a:r>
              <a:rPr lang="en-US" altLang="ja-JP" sz="2400"/>
              <a:t>A</a:t>
            </a:r>
            <a:r>
              <a:rPr lang="ja-JP" altLang="en-US" sz="2400"/>
              <a:t>から</a:t>
            </a:r>
            <a:r>
              <a:rPr lang="en-US" altLang="ja-JP" sz="2400"/>
              <a:t>H</a:t>
            </a:r>
            <a:r>
              <a:rPr lang="ja-JP" altLang="en-US" sz="2400"/>
              <a:t>への最短経路</a:t>
            </a:r>
            <a:endParaRPr kumimoji="1" lang="ja-JP" altLang="en-US" sz="2400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9EC281A6-23FF-A043-8A86-38F75D53A0FE}"/>
              </a:ext>
            </a:extLst>
          </p:cNvPr>
          <p:cNvSpPr txBox="1"/>
          <p:nvPr/>
        </p:nvSpPr>
        <p:spPr>
          <a:xfrm>
            <a:off x="4211960" y="5877272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がそれぞれわかっている</a:t>
            </a:r>
          </a:p>
        </p:txBody>
      </p:sp>
    </p:spTree>
    <p:extLst>
      <p:ext uri="{BB962C8B-B14F-4D97-AF65-F5344CB8AC3E}">
        <p14:creationId xmlns:p14="http://schemas.microsoft.com/office/powerpoint/2010/main" val="3666389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432CEFF-3BD5-5A44-B316-04912DF5EF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最短経路問題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5A170BF-22AD-964C-B86A-313956CB3AD0}"/>
              </a:ext>
            </a:extLst>
          </p:cNvPr>
          <p:cNvSpPr txBox="1"/>
          <p:nvPr/>
        </p:nvSpPr>
        <p:spPr>
          <a:xfrm>
            <a:off x="683568" y="1196752"/>
            <a:ext cx="720261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dirty="0"/>
              <a:t>A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G</a:t>
            </a:r>
            <a:r>
              <a:rPr lang="ja-JP" altLang="en-US" sz="2400" dirty="0"/>
              <a:t>」「</a:t>
            </a:r>
            <a:r>
              <a:rPr lang="en-US" altLang="ja-JP" sz="2400" dirty="0"/>
              <a:t>A</a:t>
            </a:r>
            <a:r>
              <a:rPr lang="ja-JP" altLang="en-US" sz="2400" dirty="0"/>
              <a:t>から</a:t>
            </a:r>
            <a:r>
              <a:rPr lang="en-US" altLang="ja-JP" sz="2400" dirty="0"/>
              <a:t>H</a:t>
            </a:r>
            <a:r>
              <a:rPr lang="ja-JP" altLang="en-US" sz="2400" dirty="0"/>
              <a:t>」までの最短経路のコストが</a:t>
            </a:r>
            <a:endParaRPr lang="en-US" altLang="ja-JP" sz="2400" dirty="0"/>
          </a:p>
          <a:p>
            <a:r>
              <a:rPr lang="ja-JP" altLang="en-US" sz="2400" dirty="0"/>
              <a:t>わかっているなら、この問題を解けばよい</a:t>
            </a:r>
            <a:endParaRPr kumimoji="1" lang="ja-JP" altLang="en-US" sz="2400" dirty="0"/>
          </a:p>
        </p:txBody>
      </p:sp>
      <p:grpSp>
        <p:nvGrpSpPr>
          <p:cNvPr id="134" name="グループ化 133">
            <a:extLst>
              <a:ext uri="{FF2B5EF4-FFF2-40B4-BE49-F238E27FC236}">
                <a16:creationId xmlns:a16="http://schemas.microsoft.com/office/drawing/2014/main" id="{C962AF65-28BB-6D48-A1DB-19EE953B02A3}"/>
              </a:ext>
            </a:extLst>
          </p:cNvPr>
          <p:cNvGrpSpPr/>
          <p:nvPr/>
        </p:nvGrpSpPr>
        <p:grpSpPr>
          <a:xfrm>
            <a:off x="971601" y="2996952"/>
            <a:ext cx="3168352" cy="2399888"/>
            <a:chOff x="1104508" y="3189352"/>
            <a:chExt cx="2474764" cy="1767840"/>
          </a:xfrm>
        </p:grpSpPr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CED52334-6D7F-3446-9F64-25035AAF71DB}"/>
                </a:ext>
              </a:extLst>
            </p:cNvPr>
            <p:cNvSpPr/>
            <p:nvPr/>
          </p:nvSpPr>
          <p:spPr>
            <a:xfrm>
              <a:off x="1104508" y="3881914"/>
              <a:ext cx="375920" cy="3352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F36EBFC6-8A55-A54E-8B7C-452D7C57F365}"/>
                </a:ext>
              </a:extLst>
            </p:cNvPr>
            <p:cNvSpPr/>
            <p:nvPr/>
          </p:nvSpPr>
          <p:spPr>
            <a:xfrm>
              <a:off x="2107848" y="3189352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G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E4AA18ED-5AAE-774C-A075-CABAE8A9BD05}"/>
                </a:ext>
              </a:extLst>
            </p:cNvPr>
            <p:cNvSpPr/>
            <p:nvPr/>
          </p:nvSpPr>
          <p:spPr>
            <a:xfrm>
              <a:off x="3203352" y="3884501"/>
              <a:ext cx="375920" cy="3352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60E34AD2-EB00-C44F-B137-0BEAACD6C476}"/>
                </a:ext>
              </a:extLst>
            </p:cNvPr>
            <p:cNvCxnSpPr>
              <a:cxnSpLocks/>
              <a:stCxn id="5" idx="6"/>
              <a:endCxn id="6" idx="1"/>
            </p:cNvCxnSpPr>
            <p:nvPr/>
          </p:nvCxnSpPr>
          <p:spPr>
            <a:xfrm>
              <a:off x="2483768" y="3356992"/>
              <a:ext cx="774636" cy="576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80E51FB9-6FD3-5D46-B7E3-9F3659EF129E}"/>
                </a:ext>
              </a:extLst>
            </p:cNvPr>
            <p:cNvCxnSpPr>
              <a:cxnSpLocks/>
              <a:stCxn id="14" idx="6"/>
              <a:endCxn id="6" idx="3"/>
            </p:cNvCxnSpPr>
            <p:nvPr/>
          </p:nvCxnSpPr>
          <p:spPr>
            <a:xfrm flipV="1">
              <a:off x="2483768" y="4170680"/>
              <a:ext cx="774636" cy="618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9D91314D-7CDC-0B4A-8CB3-866798F7F09D}"/>
                </a:ext>
              </a:extLst>
            </p:cNvPr>
            <p:cNvSpPr txBox="1"/>
            <p:nvPr/>
          </p:nvSpPr>
          <p:spPr>
            <a:xfrm>
              <a:off x="2915320" y="33549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</a:t>
              </a:r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432EC95C-4954-5E46-938A-5A144F2C01D3}"/>
                </a:ext>
              </a:extLst>
            </p:cNvPr>
            <p:cNvSpPr txBox="1"/>
            <p:nvPr/>
          </p:nvSpPr>
          <p:spPr>
            <a:xfrm>
              <a:off x="2920648" y="453047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2</a:t>
              </a:r>
              <a:endParaRPr kumimoji="1" lang="ja-JP" altLang="en-US"/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BB7A78D-27E3-7F46-84ED-4F106449072E}"/>
                </a:ext>
              </a:extLst>
            </p:cNvPr>
            <p:cNvSpPr txBox="1"/>
            <p:nvPr/>
          </p:nvSpPr>
          <p:spPr>
            <a:xfrm>
              <a:off x="1187624" y="328110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13</a:t>
              </a:r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9BFDB7E-74A1-4E43-9A33-F3607917399A}"/>
                </a:ext>
              </a:extLst>
            </p:cNvPr>
            <p:cNvSpPr txBox="1"/>
            <p:nvPr/>
          </p:nvSpPr>
          <p:spPr>
            <a:xfrm>
              <a:off x="1259632" y="443323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11</a:t>
              </a:r>
              <a:endParaRPr kumimoji="1" lang="ja-JP" altLang="en-US"/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FD03B5D4-0F19-CD4B-BC7A-AF93D531997B}"/>
                </a:ext>
              </a:extLst>
            </p:cNvPr>
            <p:cNvSpPr/>
            <p:nvPr/>
          </p:nvSpPr>
          <p:spPr>
            <a:xfrm>
              <a:off x="2107848" y="4621912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0EAC1395-EA1C-DC46-92EA-04E8EB6D6D7E}"/>
                </a:ext>
              </a:extLst>
            </p:cNvPr>
            <p:cNvCxnSpPr>
              <a:stCxn id="5" idx="2"/>
              <a:endCxn id="4" idx="7"/>
            </p:cNvCxnSpPr>
            <p:nvPr/>
          </p:nvCxnSpPr>
          <p:spPr>
            <a:xfrm flipH="1">
              <a:off x="1425376" y="3356992"/>
              <a:ext cx="682472" cy="5740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F190B8AB-5A91-274D-979A-FC50C53993DE}"/>
                </a:ext>
              </a:extLst>
            </p:cNvPr>
            <p:cNvCxnSpPr>
              <a:stCxn id="14" idx="2"/>
              <a:endCxn id="4" idx="5"/>
            </p:cNvCxnSpPr>
            <p:nvPr/>
          </p:nvCxnSpPr>
          <p:spPr>
            <a:xfrm flipH="1" flipV="1">
              <a:off x="1425376" y="4168093"/>
              <a:ext cx="682472" cy="621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DF09F00B-FEC0-884F-8949-9F0CF98D7CED}"/>
              </a:ext>
            </a:extLst>
          </p:cNvPr>
          <p:cNvSpPr txBox="1"/>
          <p:nvPr/>
        </p:nvSpPr>
        <p:spPr>
          <a:xfrm>
            <a:off x="179512" y="6021288"/>
            <a:ext cx="58144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</a:t>
            </a:r>
            <a:r>
              <a:rPr kumimoji="1" lang="en-US" altLang="ja-JP" sz="2400"/>
              <a:t>A-H-I</a:t>
            </a:r>
            <a:r>
              <a:rPr kumimoji="1" lang="ja-JP" altLang="en-US" sz="2400"/>
              <a:t>」が最短経路であることがわかる</a:t>
            </a:r>
          </a:p>
        </p:txBody>
      </p:sp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CFF4F530-D50C-2F47-85FF-1C6D608B601B}"/>
              </a:ext>
            </a:extLst>
          </p:cNvPr>
          <p:cNvGrpSpPr/>
          <p:nvPr/>
        </p:nvGrpSpPr>
        <p:grpSpPr>
          <a:xfrm>
            <a:off x="5220072" y="3284984"/>
            <a:ext cx="3728629" cy="2347448"/>
            <a:chOff x="1691680" y="1484784"/>
            <a:chExt cx="6027256" cy="3794604"/>
          </a:xfrm>
        </p:grpSpPr>
        <p:sp>
          <p:nvSpPr>
            <p:cNvPr id="91" name="円/楕円 90">
              <a:extLst>
                <a:ext uri="{FF2B5EF4-FFF2-40B4-BE49-F238E27FC236}">
                  <a16:creationId xmlns:a16="http://schemas.microsoft.com/office/drawing/2014/main" id="{A7B7DA93-E7B2-B64F-B079-B30B762D7B24}"/>
                </a:ext>
              </a:extLst>
            </p:cNvPr>
            <p:cNvSpPr/>
            <p:nvPr/>
          </p:nvSpPr>
          <p:spPr>
            <a:xfrm>
              <a:off x="1691680" y="3305261"/>
              <a:ext cx="455119" cy="40591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A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2" name="円/楕円 91">
              <a:extLst>
                <a:ext uri="{FF2B5EF4-FFF2-40B4-BE49-F238E27FC236}">
                  <a16:creationId xmlns:a16="http://schemas.microsoft.com/office/drawing/2014/main" id="{4533E591-0525-6C49-9B09-2DE8B0C7238D}"/>
                </a:ext>
              </a:extLst>
            </p:cNvPr>
            <p:cNvSpPr/>
            <p:nvPr/>
          </p:nvSpPr>
          <p:spPr>
            <a:xfrm>
              <a:off x="3032437" y="2407323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B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3" name="円/楕円 92">
              <a:extLst>
                <a:ext uri="{FF2B5EF4-FFF2-40B4-BE49-F238E27FC236}">
                  <a16:creationId xmlns:a16="http://schemas.microsoft.com/office/drawing/2014/main" id="{D659D792-EEF2-2C48-A60D-0F604EEC994B}"/>
                </a:ext>
              </a:extLst>
            </p:cNvPr>
            <p:cNvSpPr/>
            <p:nvPr/>
          </p:nvSpPr>
          <p:spPr>
            <a:xfrm>
              <a:off x="3032437" y="4141697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C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4" name="円/楕円 93">
              <a:extLst>
                <a:ext uri="{FF2B5EF4-FFF2-40B4-BE49-F238E27FC236}">
                  <a16:creationId xmlns:a16="http://schemas.microsoft.com/office/drawing/2014/main" id="{5B82D2AE-9DE0-E843-919B-100BD39DD408}"/>
                </a:ext>
              </a:extLst>
            </p:cNvPr>
            <p:cNvSpPr/>
            <p:nvPr/>
          </p:nvSpPr>
          <p:spPr>
            <a:xfrm>
              <a:off x="4434697" y="1484784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D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5" name="円/楕円 94">
              <a:extLst>
                <a:ext uri="{FF2B5EF4-FFF2-40B4-BE49-F238E27FC236}">
                  <a16:creationId xmlns:a16="http://schemas.microsoft.com/office/drawing/2014/main" id="{87F408A9-F7C7-E14C-84C8-43FADC168B6C}"/>
                </a:ext>
              </a:extLst>
            </p:cNvPr>
            <p:cNvSpPr/>
            <p:nvPr/>
          </p:nvSpPr>
          <p:spPr>
            <a:xfrm>
              <a:off x="4434697" y="3219158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E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6" name="円/楕円 95">
              <a:extLst>
                <a:ext uri="{FF2B5EF4-FFF2-40B4-BE49-F238E27FC236}">
                  <a16:creationId xmlns:a16="http://schemas.microsoft.com/office/drawing/2014/main" id="{5DDAE412-BBB6-C94A-8198-F527A4A8E6FC}"/>
                </a:ext>
              </a:extLst>
            </p:cNvPr>
            <p:cNvSpPr/>
            <p:nvPr/>
          </p:nvSpPr>
          <p:spPr>
            <a:xfrm>
              <a:off x="4434697" y="4855127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 sz="1600">
                  <a:solidFill>
                    <a:schemeClr val="tx1"/>
                  </a:solidFill>
                </a:rPr>
                <a:t>F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7" name="円/楕円 96">
              <a:extLst>
                <a:ext uri="{FF2B5EF4-FFF2-40B4-BE49-F238E27FC236}">
                  <a16:creationId xmlns:a16="http://schemas.microsoft.com/office/drawing/2014/main" id="{E457AA50-A79F-9B4E-90DD-C8D8660D5ED7}"/>
                </a:ext>
              </a:extLst>
            </p:cNvPr>
            <p:cNvSpPr/>
            <p:nvPr/>
          </p:nvSpPr>
          <p:spPr>
            <a:xfrm>
              <a:off x="5763153" y="2382722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G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8" name="円/楕円 97">
              <a:extLst>
                <a:ext uri="{FF2B5EF4-FFF2-40B4-BE49-F238E27FC236}">
                  <a16:creationId xmlns:a16="http://schemas.microsoft.com/office/drawing/2014/main" id="{E8C07016-1AB9-2844-ADD4-E1CF9FA88463}"/>
                </a:ext>
              </a:extLst>
            </p:cNvPr>
            <p:cNvSpPr/>
            <p:nvPr/>
          </p:nvSpPr>
          <p:spPr>
            <a:xfrm>
              <a:off x="5763153" y="4117096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H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99" name="円/楕円 98">
              <a:extLst>
                <a:ext uri="{FF2B5EF4-FFF2-40B4-BE49-F238E27FC236}">
                  <a16:creationId xmlns:a16="http://schemas.microsoft.com/office/drawing/2014/main" id="{CFFF0F6D-4D7E-7D49-B6C2-2082191B7440}"/>
                </a:ext>
              </a:extLst>
            </p:cNvPr>
            <p:cNvSpPr/>
            <p:nvPr/>
          </p:nvSpPr>
          <p:spPr>
            <a:xfrm>
              <a:off x="7263817" y="3280660"/>
              <a:ext cx="455119" cy="405917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 sz="1600">
                  <a:solidFill>
                    <a:schemeClr val="tx1"/>
                  </a:solidFill>
                </a:rPr>
                <a:t>I</a:t>
              </a:r>
              <a:endParaRPr kumimoji="1" lang="ja-JP" altLang="en-US" sz="1600">
                <a:solidFill>
                  <a:schemeClr val="tx1"/>
                </a:solidFill>
              </a:endParaRPr>
            </a:p>
          </p:txBody>
        </p:sp>
        <p:cxnSp>
          <p:nvCxnSpPr>
            <p:cNvPr id="100" name="直線コネクタ 99">
              <a:extLst>
                <a:ext uri="{FF2B5EF4-FFF2-40B4-BE49-F238E27FC236}">
                  <a16:creationId xmlns:a16="http://schemas.microsoft.com/office/drawing/2014/main" id="{BB399CE7-8256-B24C-B599-8D8D0B8CA5D8}"/>
                </a:ext>
              </a:extLst>
            </p:cNvPr>
            <p:cNvCxnSpPr>
              <a:cxnSpLocks/>
              <a:stCxn id="91" idx="7"/>
              <a:endCxn id="92" idx="2"/>
            </p:cNvCxnSpPr>
            <p:nvPr/>
          </p:nvCxnSpPr>
          <p:spPr>
            <a:xfrm flipV="1">
              <a:off x="2080149" y="2610282"/>
              <a:ext cx="952288" cy="75442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コネクタ 100">
              <a:extLst>
                <a:ext uri="{FF2B5EF4-FFF2-40B4-BE49-F238E27FC236}">
                  <a16:creationId xmlns:a16="http://schemas.microsoft.com/office/drawing/2014/main" id="{A5119C08-8D65-3A46-A354-5EE962AD9AF0}"/>
                </a:ext>
              </a:extLst>
            </p:cNvPr>
            <p:cNvCxnSpPr>
              <a:cxnSpLocks/>
              <a:stCxn id="92" idx="7"/>
              <a:endCxn id="94" idx="2"/>
            </p:cNvCxnSpPr>
            <p:nvPr/>
          </p:nvCxnSpPr>
          <p:spPr>
            <a:xfrm flipV="1">
              <a:off x="3420906" y="1687743"/>
              <a:ext cx="1013791" cy="77902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コネクタ 101">
              <a:extLst>
                <a:ext uri="{FF2B5EF4-FFF2-40B4-BE49-F238E27FC236}">
                  <a16:creationId xmlns:a16="http://schemas.microsoft.com/office/drawing/2014/main" id="{7451A146-6B29-E848-8982-1AEAB11866BE}"/>
                </a:ext>
              </a:extLst>
            </p:cNvPr>
            <p:cNvCxnSpPr>
              <a:cxnSpLocks/>
              <a:stCxn id="94" idx="6"/>
              <a:endCxn id="97" idx="1"/>
            </p:cNvCxnSpPr>
            <p:nvPr/>
          </p:nvCxnSpPr>
          <p:spPr>
            <a:xfrm>
              <a:off x="4889816" y="1687743"/>
              <a:ext cx="939988" cy="7544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コネクタ 102">
              <a:extLst>
                <a:ext uri="{FF2B5EF4-FFF2-40B4-BE49-F238E27FC236}">
                  <a16:creationId xmlns:a16="http://schemas.microsoft.com/office/drawing/2014/main" id="{9EDA40DD-B3D3-5C46-BB87-7CBCA05040F4}"/>
                </a:ext>
              </a:extLst>
            </p:cNvPr>
            <p:cNvCxnSpPr>
              <a:cxnSpLocks/>
              <a:stCxn id="97" idx="6"/>
              <a:endCxn id="99" idx="1"/>
            </p:cNvCxnSpPr>
            <p:nvPr/>
          </p:nvCxnSpPr>
          <p:spPr>
            <a:xfrm>
              <a:off x="6218272" y="2585681"/>
              <a:ext cx="1112195" cy="75442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コネクタ 103">
              <a:extLst>
                <a:ext uri="{FF2B5EF4-FFF2-40B4-BE49-F238E27FC236}">
                  <a16:creationId xmlns:a16="http://schemas.microsoft.com/office/drawing/2014/main" id="{95E102C0-F2D3-5649-95EB-2F2BF262A0C1}"/>
                </a:ext>
              </a:extLst>
            </p:cNvPr>
            <p:cNvCxnSpPr>
              <a:stCxn id="91" idx="5"/>
              <a:endCxn id="93" idx="2"/>
            </p:cNvCxnSpPr>
            <p:nvPr/>
          </p:nvCxnSpPr>
          <p:spPr>
            <a:xfrm>
              <a:off x="2080149" y="3651733"/>
              <a:ext cx="952288" cy="6929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直線コネクタ 104">
              <a:extLst>
                <a:ext uri="{FF2B5EF4-FFF2-40B4-BE49-F238E27FC236}">
                  <a16:creationId xmlns:a16="http://schemas.microsoft.com/office/drawing/2014/main" id="{950C0043-48A8-FF46-A6B3-84E6DA2C7E05}"/>
                </a:ext>
              </a:extLst>
            </p:cNvPr>
            <p:cNvCxnSpPr>
              <a:stCxn id="93" idx="5"/>
              <a:endCxn id="96" idx="2"/>
            </p:cNvCxnSpPr>
            <p:nvPr/>
          </p:nvCxnSpPr>
          <p:spPr>
            <a:xfrm>
              <a:off x="3420906" y="4488168"/>
              <a:ext cx="1013791" cy="56991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207CDA98-EE47-B447-96A2-5FD0D397C115}"/>
                </a:ext>
              </a:extLst>
            </p:cNvPr>
            <p:cNvCxnSpPr>
              <a:cxnSpLocks/>
              <a:stCxn id="96" idx="6"/>
              <a:endCxn id="98" idx="3"/>
            </p:cNvCxnSpPr>
            <p:nvPr/>
          </p:nvCxnSpPr>
          <p:spPr>
            <a:xfrm flipV="1">
              <a:off x="4889816" y="4463567"/>
              <a:ext cx="939988" cy="594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線コネクタ 106">
              <a:extLst>
                <a:ext uri="{FF2B5EF4-FFF2-40B4-BE49-F238E27FC236}">
                  <a16:creationId xmlns:a16="http://schemas.microsoft.com/office/drawing/2014/main" id="{EC0A9CA4-16F1-3644-A3F4-311C59A98D56}"/>
                </a:ext>
              </a:extLst>
            </p:cNvPr>
            <p:cNvCxnSpPr>
              <a:stCxn id="98" idx="6"/>
              <a:endCxn id="99" idx="3"/>
            </p:cNvCxnSpPr>
            <p:nvPr/>
          </p:nvCxnSpPr>
          <p:spPr>
            <a:xfrm flipV="1">
              <a:off x="6218272" y="3627132"/>
              <a:ext cx="1112195" cy="69292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FB389D32-4899-B84F-8290-DCD80118572F}"/>
                </a:ext>
              </a:extLst>
            </p:cNvPr>
            <p:cNvCxnSpPr>
              <a:stCxn id="92" idx="6"/>
              <a:endCxn id="95" idx="1"/>
            </p:cNvCxnSpPr>
            <p:nvPr/>
          </p:nvCxnSpPr>
          <p:spPr>
            <a:xfrm>
              <a:off x="3487556" y="2610282"/>
              <a:ext cx="1013791" cy="66832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線コネクタ 108">
              <a:extLst>
                <a:ext uri="{FF2B5EF4-FFF2-40B4-BE49-F238E27FC236}">
                  <a16:creationId xmlns:a16="http://schemas.microsoft.com/office/drawing/2014/main" id="{C50250BE-AF97-A842-AD5F-DCF1D2B819F7}"/>
                </a:ext>
              </a:extLst>
            </p:cNvPr>
            <p:cNvCxnSpPr>
              <a:cxnSpLocks/>
              <a:stCxn id="93" idx="7"/>
              <a:endCxn id="95" idx="3"/>
            </p:cNvCxnSpPr>
            <p:nvPr/>
          </p:nvCxnSpPr>
          <p:spPr>
            <a:xfrm flipV="1">
              <a:off x="3420906" y="3565629"/>
              <a:ext cx="1080441" cy="6355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線コネクタ 109">
              <a:extLst>
                <a:ext uri="{FF2B5EF4-FFF2-40B4-BE49-F238E27FC236}">
                  <a16:creationId xmlns:a16="http://schemas.microsoft.com/office/drawing/2014/main" id="{97B4ADB2-6C9B-0F4E-8181-F24A7F662228}"/>
                </a:ext>
              </a:extLst>
            </p:cNvPr>
            <p:cNvCxnSpPr>
              <a:stCxn id="95" idx="7"/>
              <a:endCxn id="97" idx="3"/>
            </p:cNvCxnSpPr>
            <p:nvPr/>
          </p:nvCxnSpPr>
          <p:spPr>
            <a:xfrm flipV="1">
              <a:off x="4823165" y="2729194"/>
              <a:ext cx="1006638" cy="5494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コネクタ 110">
              <a:extLst>
                <a:ext uri="{FF2B5EF4-FFF2-40B4-BE49-F238E27FC236}">
                  <a16:creationId xmlns:a16="http://schemas.microsoft.com/office/drawing/2014/main" id="{2DED5952-EA5B-2E4D-AE6F-08032A5A5881}"/>
                </a:ext>
              </a:extLst>
            </p:cNvPr>
            <p:cNvCxnSpPr>
              <a:stCxn id="95" idx="5"/>
              <a:endCxn id="98" idx="1"/>
            </p:cNvCxnSpPr>
            <p:nvPr/>
          </p:nvCxnSpPr>
          <p:spPr>
            <a:xfrm>
              <a:off x="4823165" y="3565629"/>
              <a:ext cx="1006638" cy="6109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テキスト ボックス 111">
              <a:extLst>
                <a:ext uri="{FF2B5EF4-FFF2-40B4-BE49-F238E27FC236}">
                  <a16:creationId xmlns:a16="http://schemas.microsoft.com/office/drawing/2014/main" id="{F9E01051-DA6E-6C4F-A64B-879460BB6C0D}"/>
                </a:ext>
              </a:extLst>
            </p:cNvPr>
            <p:cNvSpPr txBox="1"/>
            <p:nvPr/>
          </p:nvSpPr>
          <p:spPr>
            <a:xfrm>
              <a:off x="2355908" y="2616432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2</a:t>
              </a:r>
              <a:endParaRPr kumimoji="1" lang="ja-JP" altLang="en-US" sz="1600"/>
            </a:p>
          </p:txBody>
        </p:sp>
        <p:sp>
          <p:nvSpPr>
            <p:cNvPr id="113" name="テキスト ボックス 112">
              <a:extLst>
                <a:ext uri="{FF2B5EF4-FFF2-40B4-BE49-F238E27FC236}">
                  <a16:creationId xmlns:a16="http://schemas.microsoft.com/office/drawing/2014/main" id="{607B7C4E-C513-E347-8066-9FB1D31ED9AA}"/>
                </a:ext>
              </a:extLst>
            </p:cNvPr>
            <p:cNvSpPr txBox="1"/>
            <p:nvPr/>
          </p:nvSpPr>
          <p:spPr>
            <a:xfrm>
              <a:off x="2319007" y="3957189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7</a:t>
              </a:r>
              <a:endParaRPr kumimoji="1" lang="ja-JP" altLang="en-US" sz="1600"/>
            </a:p>
          </p:txBody>
        </p:sp>
        <p:sp>
          <p:nvSpPr>
            <p:cNvPr id="114" name="テキスト ボックス 113">
              <a:extLst>
                <a:ext uri="{FF2B5EF4-FFF2-40B4-BE49-F238E27FC236}">
                  <a16:creationId xmlns:a16="http://schemas.microsoft.com/office/drawing/2014/main" id="{FD997232-FB85-A149-8BB2-8D4069FBF5CC}"/>
                </a:ext>
              </a:extLst>
            </p:cNvPr>
            <p:cNvSpPr txBox="1"/>
            <p:nvPr/>
          </p:nvSpPr>
          <p:spPr>
            <a:xfrm>
              <a:off x="3659764" y="1730795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8</a:t>
              </a:r>
              <a:endParaRPr kumimoji="1" lang="ja-JP" altLang="en-US" sz="1600"/>
            </a:p>
          </p:txBody>
        </p:sp>
        <p:sp>
          <p:nvSpPr>
            <p:cNvPr id="115" name="テキスト ボックス 114">
              <a:extLst>
                <a:ext uri="{FF2B5EF4-FFF2-40B4-BE49-F238E27FC236}">
                  <a16:creationId xmlns:a16="http://schemas.microsoft.com/office/drawing/2014/main" id="{A6292CBA-E2FC-7B49-B42E-77F698CC8821}"/>
                </a:ext>
              </a:extLst>
            </p:cNvPr>
            <p:cNvSpPr txBox="1"/>
            <p:nvPr/>
          </p:nvSpPr>
          <p:spPr>
            <a:xfrm>
              <a:off x="3918075" y="2604130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1</a:t>
              </a:r>
              <a:endParaRPr kumimoji="1" lang="ja-JP" altLang="en-US" sz="1600"/>
            </a:p>
          </p:txBody>
        </p:sp>
        <p:sp>
          <p:nvSpPr>
            <p:cNvPr id="116" name="テキスト ボックス 115">
              <a:extLst>
                <a:ext uri="{FF2B5EF4-FFF2-40B4-BE49-F238E27FC236}">
                  <a16:creationId xmlns:a16="http://schemas.microsoft.com/office/drawing/2014/main" id="{FF6A5A30-8167-824A-A766-C2884188B2A2}"/>
                </a:ext>
              </a:extLst>
            </p:cNvPr>
            <p:cNvSpPr txBox="1"/>
            <p:nvPr/>
          </p:nvSpPr>
          <p:spPr>
            <a:xfrm>
              <a:off x="3721267" y="3538972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2</a:t>
              </a:r>
              <a:endParaRPr kumimoji="1" lang="ja-JP" altLang="en-US" sz="1600"/>
            </a:p>
          </p:txBody>
        </p:sp>
        <p:sp>
          <p:nvSpPr>
            <p:cNvPr id="117" name="テキスト ボックス 116">
              <a:extLst>
                <a:ext uri="{FF2B5EF4-FFF2-40B4-BE49-F238E27FC236}">
                  <a16:creationId xmlns:a16="http://schemas.microsoft.com/office/drawing/2014/main" id="{A1357757-A88F-014C-A72E-134212FB8DA4}"/>
                </a:ext>
              </a:extLst>
            </p:cNvPr>
            <p:cNvSpPr txBox="1"/>
            <p:nvPr/>
          </p:nvSpPr>
          <p:spPr>
            <a:xfrm>
              <a:off x="3733566" y="4732122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3</a:t>
              </a:r>
              <a:endParaRPr kumimoji="1" lang="ja-JP" altLang="en-US" sz="1600"/>
            </a:p>
          </p:txBody>
        </p:sp>
        <p:sp>
          <p:nvSpPr>
            <p:cNvPr id="118" name="テキスト ボックス 117">
              <a:extLst>
                <a:ext uri="{FF2B5EF4-FFF2-40B4-BE49-F238E27FC236}">
                  <a16:creationId xmlns:a16="http://schemas.microsoft.com/office/drawing/2014/main" id="{20EB88F1-494E-F44F-9CAB-5D121F7E29AC}"/>
                </a:ext>
              </a:extLst>
            </p:cNvPr>
            <p:cNvSpPr txBox="1"/>
            <p:nvPr/>
          </p:nvSpPr>
          <p:spPr>
            <a:xfrm>
              <a:off x="5492541" y="1767696"/>
              <a:ext cx="630185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600"/>
                <a:t>15</a:t>
              </a:r>
              <a:endParaRPr kumimoji="1" lang="ja-JP" altLang="en-US" sz="1600"/>
            </a:p>
          </p:txBody>
        </p:sp>
        <p:sp>
          <p:nvSpPr>
            <p:cNvPr id="119" name="テキスト ボックス 118">
              <a:extLst>
                <a:ext uri="{FF2B5EF4-FFF2-40B4-BE49-F238E27FC236}">
                  <a16:creationId xmlns:a16="http://schemas.microsoft.com/office/drawing/2014/main" id="{75A59EA9-0901-0F48-AA52-EA408EC8476D}"/>
                </a:ext>
              </a:extLst>
            </p:cNvPr>
            <p:cNvSpPr txBox="1"/>
            <p:nvPr/>
          </p:nvSpPr>
          <p:spPr>
            <a:xfrm>
              <a:off x="5234229" y="2997748"/>
              <a:ext cx="630185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/>
                <a:t>10</a:t>
              </a:r>
              <a:endParaRPr kumimoji="1" lang="ja-JP" altLang="en-US" sz="1600"/>
            </a:p>
          </p:txBody>
        </p:sp>
        <p:sp>
          <p:nvSpPr>
            <p:cNvPr id="120" name="テキスト ボックス 119">
              <a:extLst>
                <a:ext uri="{FF2B5EF4-FFF2-40B4-BE49-F238E27FC236}">
                  <a16:creationId xmlns:a16="http://schemas.microsoft.com/office/drawing/2014/main" id="{983E1D91-FFC6-1B42-8D9F-8163D06FCCA9}"/>
                </a:ext>
              </a:extLst>
            </p:cNvPr>
            <p:cNvSpPr txBox="1"/>
            <p:nvPr/>
          </p:nvSpPr>
          <p:spPr>
            <a:xfrm>
              <a:off x="4951318" y="3797282"/>
              <a:ext cx="630185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/>
                <a:t>12</a:t>
              </a:r>
              <a:endParaRPr kumimoji="1" lang="ja-JP" altLang="en-US" sz="1600"/>
            </a:p>
          </p:txBody>
        </p:sp>
        <p:sp>
          <p:nvSpPr>
            <p:cNvPr id="121" name="テキスト ボックス 120">
              <a:extLst>
                <a:ext uri="{FF2B5EF4-FFF2-40B4-BE49-F238E27FC236}">
                  <a16:creationId xmlns:a16="http://schemas.microsoft.com/office/drawing/2014/main" id="{1C8F5225-2C7E-4343-BA37-CEC3FA3B2234}"/>
                </a:ext>
              </a:extLst>
            </p:cNvPr>
            <p:cNvSpPr txBox="1"/>
            <p:nvPr/>
          </p:nvSpPr>
          <p:spPr>
            <a:xfrm>
              <a:off x="6784096" y="2641033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/>
                <a:t>1</a:t>
              </a:r>
              <a:endParaRPr kumimoji="1" lang="ja-JP" altLang="en-US" sz="1600"/>
            </a:p>
          </p:txBody>
        </p:sp>
        <p:sp>
          <p:nvSpPr>
            <p:cNvPr id="122" name="テキスト ボックス 121">
              <a:extLst>
                <a:ext uri="{FF2B5EF4-FFF2-40B4-BE49-F238E27FC236}">
                  <a16:creationId xmlns:a16="http://schemas.microsoft.com/office/drawing/2014/main" id="{282FA6DE-359D-6341-AEF3-9699CAF48D17}"/>
                </a:ext>
              </a:extLst>
            </p:cNvPr>
            <p:cNvSpPr txBox="1"/>
            <p:nvPr/>
          </p:nvSpPr>
          <p:spPr>
            <a:xfrm>
              <a:off x="5234229" y="4719821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/>
                <a:t>3</a:t>
              </a:r>
              <a:endParaRPr kumimoji="1" lang="ja-JP" altLang="en-US" sz="1600"/>
            </a:p>
          </p:txBody>
        </p:sp>
        <p:sp>
          <p:nvSpPr>
            <p:cNvPr id="123" name="テキスト ボックス 122">
              <a:extLst>
                <a:ext uri="{FF2B5EF4-FFF2-40B4-BE49-F238E27FC236}">
                  <a16:creationId xmlns:a16="http://schemas.microsoft.com/office/drawing/2014/main" id="{3A84731A-8B12-8A42-B353-9B821FF1D4A8}"/>
                </a:ext>
              </a:extLst>
            </p:cNvPr>
            <p:cNvSpPr txBox="1"/>
            <p:nvPr/>
          </p:nvSpPr>
          <p:spPr>
            <a:xfrm>
              <a:off x="6747195" y="4006392"/>
              <a:ext cx="464347" cy="5472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1600"/>
                <a:t>2</a:t>
              </a:r>
              <a:endParaRPr kumimoji="1" lang="ja-JP" altLang="en-US" sz="1600"/>
            </a:p>
          </p:txBody>
        </p:sp>
      </p:grpSp>
      <p:sp>
        <p:nvSpPr>
          <p:cNvPr id="130" name="テキスト ボックス 129">
            <a:extLst>
              <a:ext uri="{FF2B5EF4-FFF2-40B4-BE49-F238E27FC236}">
                <a16:creationId xmlns:a16="http://schemas.microsoft.com/office/drawing/2014/main" id="{93172F62-BF36-D84F-8DDD-589CA90FD9FC}"/>
              </a:ext>
            </a:extLst>
          </p:cNvPr>
          <p:cNvSpPr txBox="1"/>
          <p:nvPr/>
        </p:nvSpPr>
        <p:spPr>
          <a:xfrm>
            <a:off x="5724128" y="2708920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全体像は</a:t>
            </a:r>
            <a:r>
              <a:rPr kumimoji="1" lang="ja-JP" altLang="en-US"/>
              <a:t>いったん忘れる</a:t>
            </a:r>
          </a:p>
        </p:txBody>
      </p:sp>
      <p:sp>
        <p:nvSpPr>
          <p:cNvPr id="135" name="角丸四角形 134">
            <a:extLst>
              <a:ext uri="{FF2B5EF4-FFF2-40B4-BE49-F238E27FC236}">
                <a16:creationId xmlns:a16="http://schemas.microsoft.com/office/drawing/2014/main" id="{8CEE4501-6420-B34B-96DC-D110B3398BBF}"/>
              </a:ext>
            </a:extLst>
          </p:cNvPr>
          <p:cNvSpPr/>
          <p:nvPr/>
        </p:nvSpPr>
        <p:spPr>
          <a:xfrm>
            <a:off x="5076056" y="2636912"/>
            <a:ext cx="4067944" cy="316835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8561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8D61187-D718-1F44-8767-9DBD7E86CD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最短経路問題</a:t>
            </a:r>
          </a:p>
        </p:txBody>
      </p:sp>
      <p:grpSp>
        <p:nvGrpSpPr>
          <p:cNvPr id="54" name="グループ化 53">
            <a:extLst>
              <a:ext uri="{FF2B5EF4-FFF2-40B4-BE49-F238E27FC236}">
                <a16:creationId xmlns:a16="http://schemas.microsoft.com/office/drawing/2014/main" id="{47CFA580-743B-C54B-9459-9DE27B8540C5}"/>
              </a:ext>
            </a:extLst>
          </p:cNvPr>
          <p:cNvGrpSpPr/>
          <p:nvPr/>
        </p:nvGrpSpPr>
        <p:grpSpPr>
          <a:xfrm>
            <a:off x="5148064" y="3501008"/>
            <a:ext cx="3540808" cy="2232248"/>
            <a:chOff x="144371" y="3494830"/>
            <a:chExt cx="4526592" cy="2853721"/>
          </a:xfrm>
        </p:grpSpPr>
        <p:sp>
          <p:nvSpPr>
            <p:cNvPr id="3" name="円/楕円 2">
              <a:extLst>
                <a:ext uri="{FF2B5EF4-FFF2-40B4-BE49-F238E27FC236}">
                  <a16:creationId xmlns:a16="http://schemas.microsoft.com/office/drawing/2014/main" id="{CB409028-95E3-EC47-8E84-8CE95A9EA96F}"/>
                </a:ext>
              </a:extLst>
            </p:cNvPr>
            <p:cNvSpPr/>
            <p:nvPr/>
          </p:nvSpPr>
          <p:spPr>
            <a:xfrm>
              <a:off x="144371" y="4392768"/>
              <a:ext cx="455119" cy="40591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4" name="円/楕円 3">
              <a:extLst>
                <a:ext uri="{FF2B5EF4-FFF2-40B4-BE49-F238E27FC236}">
                  <a16:creationId xmlns:a16="http://schemas.microsoft.com/office/drawing/2014/main" id="{358AB6BA-5943-5647-80EF-56BF093A7EC0}"/>
                </a:ext>
              </a:extLst>
            </p:cNvPr>
            <p:cNvSpPr/>
            <p:nvPr/>
          </p:nvSpPr>
          <p:spPr>
            <a:xfrm>
              <a:off x="1485128" y="3494830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B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円/楕円 4">
              <a:extLst>
                <a:ext uri="{FF2B5EF4-FFF2-40B4-BE49-F238E27FC236}">
                  <a16:creationId xmlns:a16="http://schemas.microsoft.com/office/drawing/2014/main" id="{4E89E3AD-1B95-5342-96DE-795F05922F5B}"/>
                </a:ext>
              </a:extLst>
            </p:cNvPr>
            <p:cNvSpPr/>
            <p:nvPr/>
          </p:nvSpPr>
          <p:spPr>
            <a:xfrm>
              <a:off x="1485128" y="5229204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C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CD393D1E-C8F2-F646-BDF7-1740A9E3B6C5}"/>
                </a:ext>
              </a:extLst>
            </p:cNvPr>
            <p:cNvSpPr/>
            <p:nvPr/>
          </p:nvSpPr>
          <p:spPr>
            <a:xfrm>
              <a:off x="2887388" y="4306665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AAC27694-B056-3049-BAD8-4270AAF9B54D}"/>
                </a:ext>
              </a:extLst>
            </p:cNvPr>
            <p:cNvSpPr/>
            <p:nvPr/>
          </p:nvSpPr>
          <p:spPr>
            <a:xfrm>
              <a:off x="2887388" y="5942634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F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805113B0-2433-A149-A117-3C54FB8B936F}"/>
                </a:ext>
              </a:extLst>
            </p:cNvPr>
            <p:cNvSpPr/>
            <p:nvPr/>
          </p:nvSpPr>
          <p:spPr>
            <a:xfrm>
              <a:off x="4215844" y="5204603"/>
              <a:ext cx="455119" cy="4059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28ABD6C1-E6CC-6C4B-BCF1-9345662F9E6D}"/>
                </a:ext>
              </a:extLst>
            </p:cNvPr>
            <p:cNvCxnSpPr>
              <a:cxnSpLocks/>
              <a:stCxn id="3" idx="7"/>
              <a:endCxn id="4" idx="2"/>
            </p:cNvCxnSpPr>
            <p:nvPr/>
          </p:nvCxnSpPr>
          <p:spPr>
            <a:xfrm flipV="1">
              <a:off x="532840" y="3697789"/>
              <a:ext cx="952288" cy="754425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5B1ECA7E-2D79-0749-AB92-28504A40B7CF}"/>
                </a:ext>
              </a:extLst>
            </p:cNvPr>
            <p:cNvCxnSpPr>
              <a:stCxn id="3" idx="5"/>
              <a:endCxn id="5" idx="2"/>
            </p:cNvCxnSpPr>
            <p:nvPr/>
          </p:nvCxnSpPr>
          <p:spPr>
            <a:xfrm>
              <a:off x="532840" y="4739240"/>
              <a:ext cx="952288" cy="6929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F15E7B13-D600-B246-AD42-8F2B56BD76A8}"/>
                </a:ext>
              </a:extLst>
            </p:cNvPr>
            <p:cNvCxnSpPr>
              <a:stCxn id="5" idx="5"/>
              <a:endCxn id="7" idx="2"/>
            </p:cNvCxnSpPr>
            <p:nvPr/>
          </p:nvCxnSpPr>
          <p:spPr>
            <a:xfrm>
              <a:off x="1873597" y="5575675"/>
              <a:ext cx="1013791" cy="569917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769D342-D1D8-9B4B-AE91-E7B1A3431D7C}"/>
                </a:ext>
              </a:extLst>
            </p:cNvPr>
            <p:cNvCxnSpPr>
              <a:cxnSpLocks/>
              <a:stCxn id="7" idx="6"/>
              <a:endCxn id="9" idx="3"/>
            </p:cNvCxnSpPr>
            <p:nvPr/>
          </p:nvCxnSpPr>
          <p:spPr>
            <a:xfrm flipV="1">
              <a:off x="3342507" y="5551074"/>
              <a:ext cx="939988" cy="5945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395D3F17-C8C0-204F-BB71-E67BA45CDFB2}"/>
                </a:ext>
              </a:extLst>
            </p:cNvPr>
            <p:cNvCxnSpPr>
              <a:stCxn id="4" idx="6"/>
              <a:endCxn id="6" idx="1"/>
            </p:cNvCxnSpPr>
            <p:nvPr/>
          </p:nvCxnSpPr>
          <p:spPr>
            <a:xfrm>
              <a:off x="1940247" y="3697789"/>
              <a:ext cx="1013791" cy="668321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DB70744-E382-FE43-9433-0968C8C7D647}"/>
                </a:ext>
              </a:extLst>
            </p:cNvPr>
            <p:cNvCxnSpPr>
              <a:cxnSpLocks/>
              <a:stCxn id="5" idx="7"/>
              <a:endCxn id="6" idx="3"/>
            </p:cNvCxnSpPr>
            <p:nvPr/>
          </p:nvCxnSpPr>
          <p:spPr>
            <a:xfrm flipV="1">
              <a:off x="1873597" y="4653136"/>
              <a:ext cx="1080441" cy="635513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DFC9A89D-9360-0E4D-BF5A-0483254DC046}"/>
                </a:ext>
              </a:extLst>
            </p:cNvPr>
            <p:cNvCxnSpPr>
              <a:stCxn id="6" idx="5"/>
              <a:endCxn id="9" idx="1"/>
            </p:cNvCxnSpPr>
            <p:nvPr/>
          </p:nvCxnSpPr>
          <p:spPr>
            <a:xfrm>
              <a:off x="3275856" y="4653136"/>
              <a:ext cx="1006638" cy="61091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5CABB17D-0DAF-8D4E-BE2D-21E97A7E7AB1}"/>
                </a:ext>
              </a:extLst>
            </p:cNvPr>
            <p:cNvSpPr txBox="1"/>
            <p:nvPr/>
          </p:nvSpPr>
          <p:spPr>
            <a:xfrm>
              <a:off x="808599" y="3703939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5A883528-506C-FA4D-8A7B-BC227798456F}"/>
                </a:ext>
              </a:extLst>
            </p:cNvPr>
            <p:cNvSpPr txBox="1"/>
            <p:nvPr/>
          </p:nvSpPr>
          <p:spPr>
            <a:xfrm>
              <a:off x="771698" y="5044696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7</a:t>
              </a:r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0749479-05CE-864B-AFEB-A4863262DCBF}"/>
                </a:ext>
              </a:extLst>
            </p:cNvPr>
            <p:cNvSpPr txBox="1"/>
            <p:nvPr/>
          </p:nvSpPr>
          <p:spPr>
            <a:xfrm>
              <a:off x="2370766" y="3691638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</a:t>
              </a:r>
              <a:endParaRPr kumimoji="1" lang="ja-JP" altLang="en-US"/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1F9AC82B-BA70-A744-A0AF-A01953C6B93C}"/>
                </a:ext>
              </a:extLst>
            </p:cNvPr>
            <p:cNvSpPr txBox="1"/>
            <p:nvPr/>
          </p:nvSpPr>
          <p:spPr>
            <a:xfrm>
              <a:off x="2173957" y="4626478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52EC0F05-D458-E144-8906-5B2A9DEE88BD}"/>
                </a:ext>
              </a:extLst>
            </p:cNvPr>
            <p:cNvSpPr txBox="1"/>
            <p:nvPr/>
          </p:nvSpPr>
          <p:spPr>
            <a:xfrm>
              <a:off x="2186258" y="5819629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C8D4ED91-05AB-DE49-9C03-170915DA120F}"/>
                </a:ext>
              </a:extLst>
            </p:cNvPr>
            <p:cNvSpPr txBox="1"/>
            <p:nvPr/>
          </p:nvSpPr>
          <p:spPr>
            <a:xfrm>
              <a:off x="3404009" y="4884789"/>
              <a:ext cx="506917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12</a:t>
              </a:r>
              <a:endParaRPr kumimoji="1" lang="ja-JP" altLang="en-US"/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AF2D421-EB76-5B4B-80BF-7CF3608ADF92}"/>
                </a:ext>
              </a:extLst>
            </p:cNvPr>
            <p:cNvSpPr txBox="1"/>
            <p:nvPr/>
          </p:nvSpPr>
          <p:spPr>
            <a:xfrm>
              <a:off x="3686921" y="5807328"/>
              <a:ext cx="365246" cy="4471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</p:grp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0C7FCDF-2ADF-8941-8FE6-60443356BFCA}"/>
              </a:ext>
            </a:extLst>
          </p:cNvPr>
          <p:cNvSpPr txBox="1"/>
          <p:nvPr/>
        </p:nvSpPr>
        <p:spPr>
          <a:xfrm>
            <a:off x="683568" y="1052736"/>
            <a:ext cx="52725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/>
              <a:t>A</a:t>
            </a:r>
            <a:r>
              <a:rPr kumimoji="1" lang="ja-JP" altLang="en-US" sz="3200"/>
              <a:t>から</a:t>
            </a:r>
            <a:r>
              <a:rPr kumimoji="1" lang="en-US" altLang="ja-JP" sz="3200"/>
              <a:t>H</a:t>
            </a:r>
            <a:r>
              <a:rPr kumimoji="1" lang="ja-JP" altLang="en-US" sz="3200"/>
              <a:t>に行く最短経路は？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D24B40D3-416C-FC48-843E-95492B5D84F2}"/>
              </a:ext>
            </a:extLst>
          </p:cNvPr>
          <p:cNvSpPr txBox="1"/>
          <p:nvPr/>
        </p:nvSpPr>
        <p:spPr>
          <a:xfrm>
            <a:off x="1401321" y="1628800"/>
            <a:ext cx="36663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/>
              <a:t>A</a:t>
            </a:r>
            <a:r>
              <a:rPr kumimoji="1" lang="ja-JP" altLang="en-US" sz="2400"/>
              <a:t>から</a:t>
            </a:r>
            <a:r>
              <a:rPr kumimoji="1" lang="en-US" altLang="ja-JP" sz="2400"/>
              <a:t>E</a:t>
            </a:r>
            <a:r>
              <a:rPr kumimoji="1" lang="ja-JP" altLang="en-US" sz="2400"/>
              <a:t>に行く最短経路</a:t>
            </a:r>
            <a:r>
              <a:rPr kumimoji="1" lang="en-US" altLang="ja-JP" sz="2400"/>
              <a:t>(3)</a:t>
            </a:r>
            <a:endParaRPr kumimoji="1" lang="ja-JP" altLang="en-US" sz="240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F1D8245-F0F5-C04C-B461-8925B85CA217}"/>
              </a:ext>
            </a:extLst>
          </p:cNvPr>
          <p:cNvSpPr txBox="1"/>
          <p:nvPr/>
        </p:nvSpPr>
        <p:spPr>
          <a:xfrm>
            <a:off x="1401321" y="2060848"/>
            <a:ext cx="36567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</a:t>
            </a:r>
            <a:r>
              <a:rPr kumimoji="1" lang="ja-JP" altLang="en-US" sz="2400" dirty="0"/>
              <a:t>から</a:t>
            </a:r>
            <a:r>
              <a:rPr kumimoji="1" lang="en-US" altLang="ja-JP" sz="2400" dirty="0"/>
              <a:t>F</a:t>
            </a:r>
            <a:r>
              <a:rPr kumimoji="1" lang="ja-JP" altLang="en-US" sz="2400" dirty="0"/>
              <a:t>に行く最短経路</a:t>
            </a:r>
            <a:r>
              <a:rPr kumimoji="1" lang="en-US" altLang="ja-JP" sz="2400" dirty="0"/>
              <a:t>(8)</a:t>
            </a:r>
            <a:endParaRPr kumimoji="1" lang="ja-JP" altLang="en-US" sz="2400" dirty="0"/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1F54ABB5-29C9-3944-ACC8-8F38CFD72106}"/>
              </a:ext>
            </a:extLst>
          </p:cNvPr>
          <p:cNvGrpSpPr/>
          <p:nvPr/>
        </p:nvGrpSpPr>
        <p:grpSpPr>
          <a:xfrm>
            <a:off x="1115616" y="3717032"/>
            <a:ext cx="2950661" cy="2248272"/>
            <a:chOff x="5978524" y="3981440"/>
            <a:chExt cx="2320136" cy="1767840"/>
          </a:xfrm>
        </p:grpSpPr>
        <p:sp>
          <p:nvSpPr>
            <p:cNvPr id="29" name="円/楕円 28">
              <a:extLst>
                <a:ext uri="{FF2B5EF4-FFF2-40B4-BE49-F238E27FC236}">
                  <a16:creationId xmlns:a16="http://schemas.microsoft.com/office/drawing/2014/main" id="{A72107E9-0DBD-B640-8A74-B4748E3A42B0}"/>
                </a:ext>
              </a:extLst>
            </p:cNvPr>
            <p:cNvSpPr/>
            <p:nvPr/>
          </p:nvSpPr>
          <p:spPr>
            <a:xfrm>
              <a:off x="5978524" y="4729490"/>
              <a:ext cx="375920" cy="3352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C5FF0CD7-A153-3F4A-B628-D227A63329EB}"/>
                </a:ext>
              </a:extLst>
            </p:cNvPr>
            <p:cNvSpPr/>
            <p:nvPr/>
          </p:nvSpPr>
          <p:spPr>
            <a:xfrm>
              <a:off x="6932384" y="3981440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円/楕円 30">
              <a:extLst>
                <a:ext uri="{FF2B5EF4-FFF2-40B4-BE49-F238E27FC236}">
                  <a16:creationId xmlns:a16="http://schemas.microsoft.com/office/drawing/2014/main" id="{32E5DB96-8584-5646-B483-1F2CB099963E}"/>
                </a:ext>
              </a:extLst>
            </p:cNvPr>
            <p:cNvSpPr/>
            <p:nvPr/>
          </p:nvSpPr>
          <p:spPr>
            <a:xfrm>
              <a:off x="7922740" y="4718680"/>
              <a:ext cx="375920" cy="3352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51F74B70-1FD6-F849-916A-5D7228B411DF}"/>
                </a:ext>
              </a:extLst>
            </p:cNvPr>
            <p:cNvCxnSpPr>
              <a:cxnSpLocks/>
              <a:stCxn id="30" idx="6"/>
              <a:endCxn id="31" idx="1"/>
            </p:cNvCxnSpPr>
            <p:nvPr/>
          </p:nvCxnSpPr>
          <p:spPr>
            <a:xfrm>
              <a:off x="7308304" y="4149080"/>
              <a:ext cx="669488" cy="61870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F6C4DF2-0B6F-D24A-B3FE-1A7A997A591B}"/>
                </a:ext>
              </a:extLst>
            </p:cNvPr>
            <p:cNvCxnSpPr>
              <a:cxnSpLocks/>
              <a:stCxn id="38" idx="6"/>
              <a:endCxn id="31" idx="3"/>
            </p:cNvCxnSpPr>
            <p:nvPr/>
          </p:nvCxnSpPr>
          <p:spPr>
            <a:xfrm flipV="1">
              <a:off x="7308304" y="5004859"/>
              <a:ext cx="669488" cy="57678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275A655E-B37D-0A41-85C5-3C3C042A2DCD}"/>
                </a:ext>
              </a:extLst>
            </p:cNvPr>
            <p:cNvSpPr txBox="1"/>
            <p:nvPr/>
          </p:nvSpPr>
          <p:spPr>
            <a:xfrm>
              <a:off x="7634708" y="416552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12</a:t>
              </a:r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D7337910-A216-FA42-9021-A3204C696C0B}"/>
                </a:ext>
              </a:extLst>
            </p:cNvPr>
            <p:cNvSpPr txBox="1"/>
            <p:nvPr/>
          </p:nvSpPr>
          <p:spPr>
            <a:xfrm>
              <a:off x="7745184" y="532256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991070C-C13F-3943-8D3C-53E3048840E3}"/>
                </a:ext>
              </a:extLst>
            </p:cNvPr>
            <p:cNvSpPr txBox="1"/>
            <p:nvPr/>
          </p:nvSpPr>
          <p:spPr>
            <a:xfrm>
              <a:off x="6338564" y="409351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D9BCC716-2DB6-8349-8334-E89AE7211551}"/>
                </a:ext>
              </a:extLst>
            </p:cNvPr>
            <p:cNvSpPr txBox="1"/>
            <p:nvPr/>
          </p:nvSpPr>
          <p:spPr>
            <a:xfrm>
              <a:off x="6338564" y="531765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8</a:t>
              </a:r>
              <a:endParaRPr kumimoji="1" lang="ja-JP" altLang="en-US"/>
            </a:p>
          </p:txBody>
        </p:sp>
        <p:sp>
          <p:nvSpPr>
            <p:cNvPr id="38" name="円/楕円 37">
              <a:extLst>
                <a:ext uri="{FF2B5EF4-FFF2-40B4-BE49-F238E27FC236}">
                  <a16:creationId xmlns:a16="http://schemas.microsoft.com/office/drawing/2014/main" id="{4DA075F4-6FDA-E44F-9576-63F6FB32DA47}"/>
                </a:ext>
              </a:extLst>
            </p:cNvPr>
            <p:cNvSpPr/>
            <p:nvPr/>
          </p:nvSpPr>
          <p:spPr>
            <a:xfrm>
              <a:off x="6932384" y="5414000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F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39" name="直線コネクタ 38">
              <a:extLst>
                <a:ext uri="{FF2B5EF4-FFF2-40B4-BE49-F238E27FC236}">
                  <a16:creationId xmlns:a16="http://schemas.microsoft.com/office/drawing/2014/main" id="{B87B60FD-5A5B-E64C-9511-69EC8D323DF3}"/>
                </a:ext>
              </a:extLst>
            </p:cNvPr>
            <p:cNvCxnSpPr>
              <a:stCxn id="30" idx="2"/>
              <a:endCxn id="29" idx="7"/>
            </p:cNvCxnSpPr>
            <p:nvPr/>
          </p:nvCxnSpPr>
          <p:spPr>
            <a:xfrm flipH="1">
              <a:off x="6299392" y="4149080"/>
              <a:ext cx="632992" cy="62951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コネクタ 39">
              <a:extLst>
                <a:ext uri="{FF2B5EF4-FFF2-40B4-BE49-F238E27FC236}">
                  <a16:creationId xmlns:a16="http://schemas.microsoft.com/office/drawing/2014/main" id="{54900BAF-8EE8-714F-A04D-9970438D9E9E}"/>
                </a:ext>
              </a:extLst>
            </p:cNvPr>
            <p:cNvCxnSpPr>
              <a:stCxn id="38" idx="2"/>
              <a:endCxn id="29" idx="5"/>
            </p:cNvCxnSpPr>
            <p:nvPr/>
          </p:nvCxnSpPr>
          <p:spPr>
            <a:xfrm flipH="1" flipV="1">
              <a:off x="6299392" y="5015669"/>
              <a:ext cx="632992" cy="56597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97FDDDE5-6B69-6F4B-8143-BFD534FFC8AB}"/>
              </a:ext>
            </a:extLst>
          </p:cNvPr>
          <p:cNvSpPr txBox="1"/>
          <p:nvPr/>
        </p:nvSpPr>
        <p:spPr>
          <a:xfrm>
            <a:off x="5073729" y="184482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がわかっているなら</a:t>
            </a:r>
            <a:endParaRPr lang="ja-JP" altLang="en-US" sz="2400" dirty="0"/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86CB58E7-3DCE-4D49-AB65-CA659B6CDC2A}"/>
              </a:ext>
            </a:extLst>
          </p:cNvPr>
          <p:cNvSpPr txBox="1"/>
          <p:nvPr/>
        </p:nvSpPr>
        <p:spPr>
          <a:xfrm>
            <a:off x="5580112" y="299695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全体像は</a:t>
            </a:r>
            <a:r>
              <a:rPr kumimoji="1" lang="ja-JP" altLang="en-US"/>
              <a:t>いったん忘れる</a:t>
            </a:r>
          </a:p>
        </p:txBody>
      </p:sp>
      <p:sp>
        <p:nvSpPr>
          <p:cNvPr id="58" name="角丸四角形 57">
            <a:extLst>
              <a:ext uri="{FF2B5EF4-FFF2-40B4-BE49-F238E27FC236}">
                <a16:creationId xmlns:a16="http://schemas.microsoft.com/office/drawing/2014/main" id="{1CB3B965-9FBE-3E47-9187-BA9F064DD855}"/>
              </a:ext>
            </a:extLst>
          </p:cNvPr>
          <p:cNvSpPr/>
          <p:nvPr/>
        </p:nvSpPr>
        <p:spPr>
          <a:xfrm>
            <a:off x="4932040" y="2924944"/>
            <a:ext cx="4067944" cy="3168352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1E733353-D898-3849-9084-02FAD3D27035}"/>
              </a:ext>
            </a:extLst>
          </p:cNvPr>
          <p:cNvSpPr txBox="1"/>
          <p:nvPr/>
        </p:nvSpPr>
        <p:spPr>
          <a:xfrm>
            <a:off x="467544" y="6165304"/>
            <a:ext cx="58817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</a:t>
            </a:r>
            <a:r>
              <a:rPr kumimoji="1" lang="en-US" altLang="ja-JP" sz="2400"/>
              <a:t>A-F-H</a:t>
            </a:r>
            <a:r>
              <a:rPr kumimoji="1" lang="ja-JP" altLang="en-US" sz="2400"/>
              <a:t>」が最短経路であることがわかる</a:t>
            </a:r>
            <a:endParaRPr kumimoji="1" lang="en-US" altLang="ja-JP" sz="240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827584" y="3068960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この問題↓を解けばよい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7410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81627C5-B011-DC45-A1C5-710533AB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/>
              <a:t>動的計画法のポイント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C3E100-A818-3849-A340-7912CE0BCAD3}"/>
              </a:ext>
            </a:extLst>
          </p:cNvPr>
          <p:cNvSpPr txBox="1"/>
          <p:nvPr/>
        </p:nvSpPr>
        <p:spPr>
          <a:xfrm>
            <a:off x="323528" y="1484784"/>
            <a:ext cx="84433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解きたい問題の「部分問題」が全て解けているなら</a:t>
            </a:r>
            <a:endParaRPr kumimoji="1" lang="en-US" altLang="ja-JP" sz="2800"/>
          </a:p>
          <a:p>
            <a:r>
              <a:rPr lang="ja-JP" altLang="en-US" sz="2800"/>
              <a:t>全体の最適解が得られる</a:t>
            </a:r>
            <a:endParaRPr kumimoji="1" lang="ja-JP" altLang="en-US" sz="2800"/>
          </a:p>
        </p:txBody>
      </p:sp>
      <p:sp>
        <p:nvSpPr>
          <p:cNvPr id="4" name="下矢印 3">
            <a:extLst>
              <a:ext uri="{FF2B5EF4-FFF2-40B4-BE49-F238E27FC236}">
                <a16:creationId xmlns:a16="http://schemas.microsoft.com/office/drawing/2014/main" id="{7F7B3EDD-5798-404B-8F07-789CB868EE76}"/>
              </a:ext>
            </a:extLst>
          </p:cNvPr>
          <p:cNvSpPr/>
          <p:nvPr/>
        </p:nvSpPr>
        <p:spPr>
          <a:xfrm>
            <a:off x="4067944" y="2492896"/>
            <a:ext cx="720080" cy="648072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BD06975-152E-114B-AC7D-31D8DC8DC258}"/>
              </a:ext>
            </a:extLst>
          </p:cNvPr>
          <p:cNvSpPr txBox="1"/>
          <p:nvPr/>
        </p:nvSpPr>
        <p:spPr>
          <a:xfrm>
            <a:off x="251520" y="3212976"/>
            <a:ext cx="6288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小さい部分問題から順番に解いていく</a:t>
            </a:r>
            <a:endParaRPr kumimoji="1" lang="ja-JP" altLang="en-US" sz="2800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2B6CF0D7-91FE-C64B-9388-50C3DE4AECC2}"/>
              </a:ext>
            </a:extLst>
          </p:cNvPr>
          <p:cNvGrpSpPr/>
          <p:nvPr/>
        </p:nvGrpSpPr>
        <p:grpSpPr>
          <a:xfrm>
            <a:off x="323528" y="3933056"/>
            <a:ext cx="4170985" cy="2613250"/>
            <a:chOff x="1374304" y="2789467"/>
            <a:chExt cx="6226120" cy="3900855"/>
          </a:xfrm>
        </p:grpSpPr>
        <p:sp>
          <p:nvSpPr>
            <p:cNvPr id="6" name="円/楕円 5">
              <a:extLst>
                <a:ext uri="{FF2B5EF4-FFF2-40B4-BE49-F238E27FC236}">
                  <a16:creationId xmlns:a16="http://schemas.microsoft.com/office/drawing/2014/main" id="{8EB3D0BC-3EA7-B34C-A491-196CD705B74D}"/>
                </a:ext>
              </a:extLst>
            </p:cNvPr>
            <p:cNvSpPr/>
            <p:nvPr/>
          </p:nvSpPr>
          <p:spPr>
            <a:xfrm>
              <a:off x="1374304" y="4670009"/>
              <a:ext cx="470136" cy="41931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円/楕円 6">
              <a:extLst>
                <a:ext uri="{FF2B5EF4-FFF2-40B4-BE49-F238E27FC236}">
                  <a16:creationId xmlns:a16="http://schemas.microsoft.com/office/drawing/2014/main" id="{333982CF-1F14-F64C-A1F9-16E45FFB12F4}"/>
                </a:ext>
              </a:extLst>
            </p:cNvPr>
            <p:cNvSpPr/>
            <p:nvPr/>
          </p:nvSpPr>
          <p:spPr>
            <a:xfrm>
              <a:off x="2759298" y="3742445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B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円/楕円 7">
              <a:extLst>
                <a:ext uri="{FF2B5EF4-FFF2-40B4-BE49-F238E27FC236}">
                  <a16:creationId xmlns:a16="http://schemas.microsoft.com/office/drawing/2014/main" id="{C6FC6CD8-F342-B345-920A-15E6F8B48F59}"/>
                </a:ext>
              </a:extLst>
            </p:cNvPr>
            <p:cNvSpPr/>
            <p:nvPr/>
          </p:nvSpPr>
          <p:spPr>
            <a:xfrm>
              <a:off x="2759298" y="5534043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C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円/楕円 8">
              <a:extLst>
                <a:ext uri="{FF2B5EF4-FFF2-40B4-BE49-F238E27FC236}">
                  <a16:creationId xmlns:a16="http://schemas.microsoft.com/office/drawing/2014/main" id="{06B6C658-0AAA-9E4E-A207-B0E282ABEA34}"/>
                </a:ext>
              </a:extLst>
            </p:cNvPr>
            <p:cNvSpPr/>
            <p:nvPr/>
          </p:nvSpPr>
          <p:spPr>
            <a:xfrm>
              <a:off x="4207824" y="2789467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D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円/楕円 9">
              <a:extLst>
                <a:ext uri="{FF2B5EF4-FFF2-40B4-BE49-F238E27FC236}">
                  <a16:creationId xmlns:a16="http://schemas.microsoft.com/office/drawing/2014/main" id="{7928ED0C-DEDA-304B-A036-D1FC52AD5809}"/>
                </a:ext>
              </a:extLst>
            </p:cNvPr>
            <p:cNvSpPr/>
            <p:nvPr/>
          </p:nvSpPr>
          <p:spPr>
            <a:xfrm>
              <a:off x="4207824" y="4581065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E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円/楕円 10">
              <a:extLst>
                <a:ext uri="{FF2B5EF4-FFF2-40B4-BE49-F238E27FC236}">
                  <a16:creationId xmlns:a16="http://schemas.microsoft.com/office/drawing/2014/main" id="{19DC4C57-BCC2-BB4F-A249-5597A7E195B5}"/>
                </a:ext>
              </a:extLst>
            </p:cNvPr>
            <p:cNvSpPr/>
            <p:nvPr/>
          </p:nvSpPr>
          <p:spPr>
            <a:xfrm>
              <a:off x="4207824" y="6271012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ja-JP">
                  <a:solidFill>
                    <a:schemeClr val="tx1"/>
                  </a:solidFill>
                </a:rPr>
                <a:t>F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円/楕円 11">
              <a:extLst>
                <a:ext uri="{FF2B5EF4-FFF2-40B4-BE49-F238E27FC236}">
                  <a16:creationId xmlns:a16="http://schemas.microsoft.com/office/drawing/2014/main" id="{E242072A-0A18-A248-911F-AF54D0230EA7}"/>
                </a:ext>
              </a:extLst>
            </p:cNvPr>
            <p:cNvSpPr/>
            <p:nvPr/>
          </p:nvSpPr>
          <p:spPr>
            <a:xfrm>
              <a:off x="5580112" y="3717032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G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3F16F42D-F3B9-B64B-BC2C-8D267DAC4296}"/>
                </a:ext>
              </a:extLst>
            </p:cNvPr>
            <p:cNvSpPr/>
            <p:nvPr/>
          </p:nvSpPr>
          <p:spPr>
            <a:xfrm>
              <a:off x="5580112" y="5508630"/>
              <a:ext cx="470136" cy="41931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円/楕円 13">
              <a:extLst>
                <a:ext uri="{FF2B5EF4-FFF2-40B4-BE49-F238E27FC236}">
                  <a16:creationId xmlns:a16="http://schemas.microsoft.com/office/drawing/2014/main" id="{29809668-0B06-BE47-AA1A-012C8BAD094B}"/>
                </a:ext>
              </a:extLst>
            </p:cNvPr>
            <p:cNvSpPr/>
            <p:nvPr/>
          </p:nvSpPr>
          <p:spPr>
            <a:xfrm>
              <a:off x="7130288" y="4644597"/>
              <a:ext cx="470136" cy="41931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75D0C3CE-5222-A348-B2CF-CA2E31199DA3}"/>
                </a:ext>
              </a:extLst>
            </p:cNvPr>
            <p:cNvCxnSpPr>
              <a:cxnSpLocks/>
              <a:stCxn id="6" idx="7"/>
              <a:endCxn id="7" idx="2"/>
            </p:cNvCxnSpPr>
            <p:nvPr/>
          </p:nvCxnSpPr>
          <p:spPr>
            <a:xfrm flipV="1">
              <a:off x="1775590" y="3952100"/>
              <a:ext cx="983708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B024E3E6-EB42-A348-A4C5-ADFAEC2D3CFD}"/>
                </a:ext>
              </a:extLst>
            </p:cNvPr>
            <p:cNvCxnSpPr>
              <a:cxnSpLocks/>
              <a:stCxn id="7" idx="7"/>
              <a:endCxn id="9" idx="2"/>
            </p:cNvCxnSpPr>
            <p:nvPr/>
          </p:nvCxnSpPr>
          <p:spPr>
            <a:xfrm flipV="1">
              <a:off x="3160584" y="2999122"/>
              <a:ext cx="1047240" cy="80473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E844F405-CD9A-7642-87C1-169B581D9E3B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>
              <a:off x="4677960" y="2999122"/>
              <a:ext cx="971002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6BC424C-DFE8-104D-A406-6C15219B71E8}"/>
                </a:ext>
              </a:extLst>
            </p:cNvPr>
            <p:cNvCxnSpPr>
              <a:cxnSpLocks/>
              <a:stCxn id="12" idx="6"/>
              <a:endCxn id="14" idx="1"/>
            </p:cNvCxnSpPr>
            <p:nvPr/>
          </p:nvCxnSpPr>
          <p:spPr>
            <a:xfrm>
              <a:off x="6050247" y="3926687"/>
              <a:ext cx="1148891" cy="7793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B661BE06-D0BC-4A41-8467-D988C8681E8E}"/>
                </a:ext>
              </a:extLst>
            </p:cNvPr>
            <p:cNvCxnSpPr>
              <a:stCxn id="6" idx="5"/>
              <a:endCxn id="8" idx="2"/>
            </p:cNvCxnSpPr>
            <p:nvPr/>
          </p:nvCxnSpPr>
          <p:spPr>
            <a:xfrm>
              <a:off x="1775590" y="5027913"/>
              <a:ext cx="983708" cy="7157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69D26127-B23B-7744-A66D-E6AFE690B7C3}"/>
                </a:ext>
              </a:extLst>
            </p:cNvPr>
            <p:cNvCxnSpPr>
              <a:stCxn id="8" idx="5"/>
              <a:endCxn id="11" idx="2"/>
            </p:cNvCxnSpPr>
            <p:nvPr/>
          </p:nvCxnSpPr>
          <p:spPr>
            <a:xfrm>
              <a:off x="3160584" y="5891946"/>
              <a:ext cx="1047240" cy="58872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E6930B67-9066-7141-9E2D-FAE9D7158676}"/>
                </a:ext>
              </a:extLst>
            </p:cNvPr>
            <p:cNvCxnSpPr>
              <a:stCxn id="11" idx="6"/>
              <a:endCxn id="13" idx="3"/>
            </p:cNvCxnSpPr>
            <p:nvPr/>
          </p:nvCxnSpPr>
          <p:spPr>
            <a:xfrm flipV="1">
              <a:off x="4677960" y="5866533"/>
              <a:ext cx="971002" cy="61413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D9DB65A2-08A2-0341-9996-60E0899FD174}"/>
                </a:ext>
              </a:extLst>
            </p:cNvPr>
            <p:cNvCxnSpPr>
              <a:stCxn id="13" idx="6"/>
              <a:endCxn id="14" idx="3"/>
            </p:cNvCxnSpPr>
            <p:nvPr/>
          </p:nvCxnSpPr>
          <p:spPr>
            <a:xfrm flipV="1">
              <a:off x="6050247" y="5002500"/>
              <a:ext cx="1148891" cy="71578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FD1BBFDC-1711-7347-8DE0-DE5C78423755}"/>
                </a:ext>
              </a:extLst>
            </p:cNvPr>
            <p:cNvCxnSpPr>
              <a:stCxn id="7" idx="6"/>
              <a:endCxn id="10" idx="1"/>
            </p:cNvCxnSpPr>
            <p:nvPr/>
          </p:nvCxnSpPr>
          <p:spPr>
            <a:xfrm>
              <a:off x="3229434" y="3952100"/>
              <a:ext cx="1047240" cy="6903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ED7A331F-F5FF-FD48-8654-0C69F016A264}"/>
                </a:ext>
              </a:extLst>
            </p:cNvPr>
            <p:cNvCxnSpPr>
              <a:cxnSpLocks/>
              <a:stCxn id="8" idx="7"/>
              <a:endCxn id="10" idx="3"/>
            </p:cNvCxnSpPr>
            <p:nvPr/>
          </p:nvCxnSpPr>
          <p:spPr>
            <a:xfrm flipV="1">
              <a:off x="3160584" y="4938968"/>
              <a:ext cx="1116089" cy="65648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16E206E8-4225-4C42-A1FA-E804E3407E3D}"/>
                </a:ext>
              </a:extLst>
            </p:cNvPr>
            <p:cNvCxnSpPr>
              <a:stCxn id="10" idx="7"/>
              <a:endCxn id="12" idx="3"/>
            </p:cNvCxnSpPr>
            <p:nvPr/>
          </p:nvCxnSpPr>
          <p:spPr>
            <a:xfrm flipV="1">
              <a:off x="4609110" y="4074935"/>
              <a:ext cx="1039851" cy="56753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6E217260-BEEB-4344-A419-5BED5A5A3460}"/>
                </a:ext>
              </a:extLst>
            </p:cNvPr>
            <p:cNvCxnSpPr>
              <a:stCxn id="10" idx="5"/>
              <a:endCxn id="13" idx="1"/>
            </p:cNvCxnSpPr>
            <p:nvPr/>
          </p:nvCxnSpPr>
          <p:spPr>
            <a:xfrm>
              <a:off x="4609110" y="4938968"/>
              <a:ext cx="1039851" cy="63106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659E106-00DC-CD4A-BA99-E2C167803894}"/>
                </a:ext>
              </a:extLst>
            </p:cNvPr>
            <p:cNvSpPr txBox="1"/>
            <p:nvPr/>
          </p:nvSpPr>
          <p:spPr>
            <a:xfrm>
              <a:off x="2019231" y="3864346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E14D5621-AB0C-1F49-B04C-8A35ECF3508B}"/>
                </a:ext>
              </a:extLst>
            </p:cNvPr>
            <p:cNvSpPr txBox="1"/>
            <p:nvPr/>
          </p:nvSpPr>
          <p:spPr>
            <a:xfrm>
              <a:off x="2022329" y="5343447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7</a:t>
              </a:r>
              <a:endParaRPr kumimoji="1"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5CE64086-C936-0E47-8E9F-C293960CD6B6}"/>
                </a:ext>
              </a:extLst>
            </p:cNvPr>
            <p:cNvSpPr txBox="1"/>
            <p:nvPr/>
          </p:nvSpPr>
          <p:spPr>
            <a:xfrm>
              <a:off x="3309086" y="2896955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8</a:t>
              </a:r>
              <a:endParaRPr kumimoji="1" lang="ja-JP" altLang="en-US"/>
            </a:p>
          </p:txBody>
        </p:sp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7B5F8CEE-D478-9C40-BEEB-0AF8AF2F447A}"/>
                </a:ext>
              </a:extLst>
            </p:cNvPr>
            <p:cNvSpPr txBox="1"/>
            <p:nvPr/>
          </p:nvSpPr>
          <p:spPr>
            <a:xfrm>
              <a:off x="3674156" y="3945746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</a:t>
              </a:r>
              <a:endParaRPr kumimoji="1" lang="ja-JP" altLang="en-US"/>
            </a:p>
          </p:txBody>
        </p:sp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52931304-AFFD-2D44-8894-83A90EBA01F8}"/>
                </a:ext>
              </a:extLst>
            </p:cNvPr>
            <p:cNvSpPr txBox="1"/>
            <p:nvPr/>
          </p:nvSpPr>
          <p:spPr>
            <a:xfrm>
              <a:off x="3416574" y="4831737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2</a:t>
              </a:r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B3DEA50-DCB2-FD4F-90A2-D930B4E7716E}"/>
                </a:ext>
              </a:extLst>
            </p:cNvPr>
            <p:cNvSpPr txBox="1"/>
            <p:nvPr/>
          </p:nvSpPr>
          <p:spPr>
            <a:xfrm>
              <a:off x="3309086" y="6121592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3</a:t>
              </a:r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FBB7AB2D-2703-6540-BC31-8F9BDC1736AB}"/>
                </a:ext>
              </a:extLst>
            </p:cNvPr>
            <p:cNvSpPr txBox="1"/>
            <p:nvPr/>
          </p:nvSpPr>
          <p:spPr>
            <a:xfrm>
              <a:off x="5300572" y="3081713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15</a:t>
              </a:r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BBFCB11B-7C04-B643-A682-8DC83297570B}"/>
                </a:ext>
              </a:extLst>
            </p:cNvPr>
            <p:cNvSpPr txBox="1"/>
            <p:nvPr/>
          </p:nvSpPr>
          <p:spPr>
            <a:xfrm>
              <a:off x="5033738" y="4352350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10</a:t>
              </a:r>
              <a:endParaRPr kumimoji="1" lang="ja-JP" altLang="en-US"/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042D5C40-29FF-7E4A-9FC1-E0EB64661D90}"/>
                </a:ext>
              </a:extLst>
            </p:cNvPr>
            <p:cNvSpPr txBox="1"/>
            <p:nvPr/>
          </p:nvSpPr>
          <p:spPr>
            <a:xfrm>
              <a:off x="4598941" y="5154201"/>
              <a:ext cx="523642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12</a:t>
              </a:r>
              <a:endParaRPr kumimoji="1" lang="ja-JP" altLang="en-US"/>
            </a:p>
          </p:txBody>
        </p:sp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BFC56B06-4082-2E4E-BC99-356CCD2845CB}"/>
                </a:ext>
              </a:extLst>
            </p:cNvPr>
            <p:cNvSpPr txBox="1"/>
            <p:nvPr/>
          </p:nvSpPr>
          <p:spPr>
            <a:xfrm>
              <a:off x="6634740" y="3983866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</a:t>
              </a:r>
              <a:endParaRPr kumimoji="1" lang="ja-JP" altLang="en-US"/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82C8AFE2-EC64-F145-B0CB-7DC68F20DCF8}"/>
                </a:ext>
              </a:extLst>
            </p:cNvPr>
            <p:cNvSpPr txBox="1"/>
            <p:nvPr/>
          </p:nvSpPr>
          <p:spPr>
            <a:xfrm>
              <a:off x="5033738" y="6131242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3</a:t>
              </a:r>
              <a:endParaRPr kumimoji="1" lang="ja-JP" altLang="en-US"/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F1DFA279-1CFD-7047-8A98-5A33DB88CC81}"/>
                </a:ext>
              </a:extLst>
            </p:cNvPr>
            <p:cNvSpPr txBox="1"/>
            <p:nvPr/>
          </p:nvSpPr>
          <p:spPr>
            <a:xfrm>
              <a:off x="6596621" y="5394272"/>
              <a:ext cx="377297" cy="4618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2</a:t>
              </a:r>
              <a:endParaRPr kumimoji="1" lang="ja-JP" altLang="en-US"/>
            </a:p>
          </p:txBody>
        </p:sp>
      </p:grp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3589849-32A3-3F43-A723-D453C986CB77}"/>
              </a:ext>
            </a:extLst>
          </p:cNvPr>
          <p:cNvSpPr txBox="1"/>
          <p:nvPr/>
        </p:nvSpPr>
        <p:spPr>
          <a:xfrm>
            <a:off x="5292080" y="4221088"/>
            <a:ext cx="3358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/>
              <a:t>A</a:t>
            </a:r>
            <a:r>
              <a:rPr kumimoji="1" lang="ja-JP" altLang="en-US" sz="2000"/>
              <a:t>から</a:t>
            </a:r>
            <a:r>
              <a:rPr kumimoji="1" lang="en-US" altLang="ja-JP" sz="2000"/>
              <a:t>B</a:t>
            </a:r>
            <a:r>
              <a:rPr kumimoji="1" lang="ja-JP" altLang="en-US" sz="2000"/>
              <a:t>への最短経路</a:t>
            </a:r>
            <a:endParaRPr kumimoji="1" lang="en-US" altLang="ja-JP" sz="2000"/>
          </a:p>
          <a:p>
            <a:r>
              <a:rPr lang="en-US" altLang="ja-JP" sz="2000"/>
              <a:t>A</a:t>
            </a:r>
            <a:r>
              <a:rPr lang="ja-JP" altLang="en-US" sz="2000"/>
              <a:t>から</a:t>
            </a:r>
            <a:r>
              <a:rPr lang="en-US" altLang="ja-JP" sz="2000"/>
              <a:t>C</a:t>
            </a:r>
            <a:r>
              <a:rPr lang="ja-JP" altLang="en-US" sz="2000"/>
              <a:t>への最短経路・・・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1480000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解の再構成</a:t>
            </a:r>
            <a:endParaRPr kumimoji="1" lang="en-US" altLang="ja-JP" dirty="0"/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C962AF65-28BB-6D48-A1DB-19EE953B02A3}"/>
              </a:ext>
            </a:extLst>
          </p:cNvPr>
          <p:cNvGrpSpPr/>
          <p:nvPr/>
        </p:nvGrpSpPr>
        <p:grpSpPr>
          <a:xfrm>
            <a:off x="2771800" y="2492896"/>
            <a:ext cx="3168352" cy="2399888"/>
            <a:chOff x="1104508" y="3189352"/>
            <a:chExt cx="2474764" cy="1767840"/>
          </a:xfrm>
        </p:grpSpPr>
        <p:sp>
          <p:nvSpPr>
            <p:cNvPr id="9" name="円/楕円 3">
              <a:extLst>
                <a:ext uri="{FF2B5EF4-FFF2-40B4-BE49-F238E27FC236}">
                  <a16:creationId xmlns:a16="http://schemas.microsoft.com/office/drawing/2014/main" id="{CED52334-6D7F-3446-9F64-25035AAF71DB}"/>
                </a:ext>
              </a:extLst>
            </p:cNvPr>
            <p:cNvSpPr/>
            <p:nvPr/>
          </p:nvSpPr>
          <p:spPr>
            <a:xfrm>
              <a:off x="1104508" y="3881914"/>
              <a:ext cx="375920" cy="33528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A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円/楕円 4">
              <a:extLst>
                <a:ext uri="{FF2B5EF4-FFF2-40B4-BE49-F238E27FC236}">
                  <a16:creationId xmlns:a16="http://schemas.microsoft.com/office/drawing/2014/main" id="{F36EBFC6-8A55-A54E-8B7C-452D7C57F365}"/>
                </a:ext>
              </a:extLst>
            </p:cNvPr>
            <p:cNvSpPr/>
            <p:nvPr/>
          </p:nvSpPr>
          <p:spPr>
            <a:xfrm>
              <a:off x="2107848" y="3189352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G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円/楕円 5">
              <a:extLst>
                <a:ext uri="{FF2B5EF4-FFF2-40B4-BE49-F238E27FC236}">
                  <a16:creationId xmlns:a16="http://schemas.microsoft.com/office/drawing/2014/main" id="{E4AA18ED-5AAE-774C-A075-CABAE8A9BD05}"/>
                </a:ext>
              </a:extLst>
            </p:cNvPr>
            <p:cNvSpPr/>
            <p:nvPr/>
          </p:nvSpPr>
          <p:spPr>
            <a:xfrm>
              <a:off x="3203352" y="3884501"/>
              <a:ext cx="375920" cy="33528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I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60E34AD2-EB00-C44F-B137-0BEAACD6C476}"/>
                </a:ext>
              </a:extLst>
            </p:cNvPr>
            <p:cNvCxnSpPr>
              <a:cxnSpLocks/>
              <a:stCxn id="10" idx="6"/>
              <a:endCxn id="11" idx="1"/>
            </p:cNvCxnSpPr>
            <p:nvPr/>
          </p:nvCxnSpPr>
          <p:spPr>
            <a:xfrm>
              <a:off x="2483768" y="3356992"/>
              <a:ext cx="774636" cy="57661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0E51FB9-6FD3-5D46-B7E3-9F3659EF129E}"/>
                </a:ext>
              </a:extLst>
            </p:cNvPr>
            <p:cNvCxnSpPr>
              <a:cxnSpLocks/>
              <a:stCxn id="18" idx="6"/>
              <a:endCxn id="11" idx="3"/>
            </p:cNvCxnSpPr>
            <p:nvPr/>
          </p:nvCxnSpPr>
          <p:spPr>
            <a:xfrm flipV="1">
              <a:off x="2483768" y="4170680"/>
              <a:ext cx="774636" cy="61887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9D91314D-7CDC-0B4A-8CB3-866798F7F09D}"/>
                </a:ext>
              </a:extLst>
            </p:cNvPr>
            <p:cNvSpPr txBox="1"/>
            <p:nvPr/>
          </p:nvSpPr>
          <p:spPr>
            <a:xfrm>
              <a:off x="2915320" y="3354968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1</a:t>
              </a:r>
              <a:endParaRPr kumimoji="1" lang="ja-JP" altLang="en-US"/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432EC95C-4954-5E46-938A-5A144F2C01D3}"/>
                </a:ext>
              </a:extLst>
            </p:cNvPr>
            <p:cNvSpPr txBox="1"/>
            <p:nvPr/>
          </p:nvSpPr>
          <p:spPr>
            <a:xfrm>
              <a:off x="2920648" y="4530472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/>
                <a:t>2</a:t>
              </a:r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2BB7A78D-27E3-7F46-84ED-4F106449072E}"/>
                </a:ext>
              </a:extLst>
            </p:cNvPr>
            <p:cNvSpPr txBox="1"/>
            <p:nvPr/>
          </p:nvSpPr>
          <p:spPr>
            <a:xfrm>
              <a:off x="1187624" y="3281107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13</a:t>
              </a:r>
              <a:endParaRPr kumimoji="1" lang="ja-JP" altLang="en-US"/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9BFDB7E-74A1-4E43-9A33-F3607917399A}"/>
                </a:ext>
              </a:extLst>
            </p:cNvPr>
            <p:cNvSpPr txBox="1"/>
            <p:nvPr/>
          </p:nvSpPr>
          <p:spPr>
            <a:xfrm>
              <a:off x="1259632" y="4433235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11</a:t>
              </a:r>
              <a:endParaRPr kumimoji="1" lang="ja-JP" altLang="en-US"/>
            </a:p>
          </p:txBody>
        </p:sp>
        <p:sp>
          <p:nvSpPr>
            <p:cNvPr id="18" name="円/楕円 13">
              <a:extLst>
                <a:ext uri="{FF2B5EF4-FFF2-40B4-BE49-F238E27FC236}">
                  <a16:creationId xmlns:a16="http://schemas.microsoft.com/office/drawing/2014/main" id="{FD03B5D4-0F19-CD4B-BC7A-AF93D531997B}"/>
                </a:ext>
              </a:extLst>
            </p:cNvPr>
            <p:cNvSpPr/>
            <p:nvPr/>
          </p:nvSpPr>
          <p:spPr>
            <a:xfrm>
              <a:off x="2107848" y="4621912"/>
              <a:ext cx="375920" cy="33528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ja-JP">
                  <a:solidFill>
                    <a:schemeClr val="tx1"/>
                  </a:solidFill>
                </a:rPr>
                <a:t>H</a:t>
              </a:r>
              <a:endParaRPr kumimoji="1" lang="ja-JP" altLang="en-US">
                <a:solidFill>
                  <a:schemeClr val="tx1"/>
                </a:solidFill>
              </a:endParaRPr>
            </a:p>
          </p:txBody>
        </p: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0EAC1395-EA1C-DC46-92EA-04E8EB6D6D7E}"/>
                </a:ext>
              </a:extLst>
            </p:cNvPr>
            <p:cNvCxnSpPr>
              <a:stCxn id="10" idx="2"/>
              <a:endCxn id="9" idx="7"/>
            </p:cNvCxnSpPr>
            <p:nvPr/>
          </p:nvCxnSpPr>
          <p:spPr>
            <a:xfrm flipH="1">
              <a:off x="1425376" y="3356992"/>
              <a:ext cx="682472" cy="57402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F190B8AB-5A91-274D-979A-FC50C53993DE}"/>
                </a:ext>
              </a:extLst>
            </p:cNvPr>
            <p:cNvCxnSpPr>
              <a:stCxn id="18" idx="2"/>
              <a:endCxn id="9" idx="5"/>
            </p:cNvCxnSpPr>
            <p:nvPr/>
          </p:nvCxnSpPr>
          <p:spPr>
            <a:xfrm flipH="1" flipV="1">
              <a:off x="1425376" y="4168093"/>
              <a:ext cx="682472" cy="62145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テキスト ボックス 57"/>
          <p:cNvSpPr txBox="1"/>
          <p:nvPr/>
        </p:nvSpPr>
        <p:spPr>
          <a:xfrm>
            <a:off x="467544" y="1124744"/>
            <a:ext cx="7366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最短経路のコストは</a:t>
            </a:r>
            <a:r>
              <a:rPr lang="en-US" altLang="ja-JP" sz="2800" dirty="0"/>
              <a:t>13</a:t>
            </a:r>
            <a:r>
              <a:rPr lang="ja-JP" altLang="en-US" sz="2800" dirty="0"/>
              <a:t>とわかっているとする</a:t>
            </a:r>
            <a:endParaRPr kumimoji="1" lang="ja-JP" altLang="en-US" sz="2800" dirty="0"/>
          </a:p>
        </p:txBody>
      </p:sp>
      <p:sp>
        <p:nvSpPr>
          <p:cNvPr id="60" name="テキスト ボックス 59"/>
          <p:cNvSpPr txBox="1"/>
          <p:nvPr/>
        </p:nvSpPr>
        <p:spPr>
          <a:xfrm>
            <a:off x="467544" y="1700808"/>
            <a:ext cx="80826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最終目的地 「</a:t>
            </a:r>
            <a:r>
              <a:rPr lang="en-US" altLang="ja-JP" sz="2800" dirty="0"/>
              <a:t>I</a:t>
            </a:r>
            <a:r>
              <a:rPr lang="ja-JP" altLang="en-US" sz="2800" dirty="0"/>
              <a:t>」に至る経路は「</a:t>
            </a:r>
            <a:r>
              <a:rPr lang="en-US" altLang="ja-JP" sz="2800" dirty="0"/>
              <a:t>G</a:t>
            </a:r>
            <a:r>
              <a:rPr lang="ja-JP" altLang="en-US" sz="2800" dirty="0"/>
              <a:t>」か「</a:t>
            </a:r>
            <a:r>
              <a:rPr lang="en-US" altLang="ja-JP" sz="2800" dirty="0"/>
              <a:t>H</a:t>
            </a:r>
            <a:r>
              <a:rPr lang="ja-JP" altLang="en-US" sz="2800" dirty="0"/>
              <a:t>」か？</a:t>
            </a:r>
            <a:endParaRPr kumimoji="1" lang="ja-JP" altLang="en-US" sz="2800" dirty="0"/>
          </a:p>
        </p:txBody>
      </p:sp>
      <p:sp>
        <p:nvSpPr>
          <p:cNvPr id="62" name="テキスト ボックス 61"/>
          <p:cNvSpPr txBox="1"/>
          <p:nvPr/>
        </p:nvSpPr>
        <p:spPr>
          <a:xfrm>
            <a:off x="251520" y="5877272"/>
            <a:ext cx="53335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A-H </a:t>
            </a:r>
            <a:r>
              <a:rPr lang="ja-JP" altLang="en-US" sz="2400" dirty="0"/>
              <a:t>のコストと </a:t>
            </a:r>
            <a:r>
              <a:rPr lang="en-US" altLang="ja-JP" sz="2400" dirty="0"/>
              <a:t>H-I</a:t>
            </a:r>
            <a:r>
              <a:rPr lang="ja-JP" altLang="en-US" sz="2400" dirty="0"/>
              <a:t>のコストの和 </a:t>
            </a:r>
            <a:r>
              <a:rPr lang="en-US" altLang="ja-JP" sz="2400" dirty="0"/>
              <a:t>= 13</a:t>
            </a:r>
          </a:p>
          <a:p>
            <a:r>
              <a:rPr lang="en-US" altLang="ja-JP" sz="2400" dirty="0"/>
              <a:t>A-G </a:t>
            </a:r>
            <a:r>
              <a:rPr lang="ja-JP" altLang="en-US" sz="2400" dirty="0"/>
              <a:t>のコストと </a:t>
            </a:r>
            <a:r>
              <a:rPr lang="en-US" altLang="ja-JP" sz="2400" dirty="0"/>
              <a:t>G-I</a:t>
            </a:r>
            <a:r>
              <a:rPr lang="ja-JP" altLang="en-US" sz="2400" dirty="0"/>
              <a:t>のコストの和 </a:t>
            </a:r>
            <a:r>
              <a:rPr lang="en-US" altLang="ja-JP" sz="2400" dirty="0"/>
              <a:t>= 14</a:t>
            </a:r>
          </a:p>
        </p:txBody>
      </p:sp>
      <p:sp>
        <p:nvSpPr>
          <p:cNvPr id="63" name="テキスト ボックス 62"/>
          <p:cNvSpPr txBox="1"/>
          <p:nvPr/>
        </p:nvSpPr>
        <p:spPr>
          <a:xfrm>
            <a:off x="323528" y="5157192"/>
            <a:ext cx="8324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「</a:t>
            </a:r>
            <a:r>
              <a:rPr kumimoji="1" lang="en-US" altLang="ja-JP" sz="2400" dirty="0"/>
              <a:t>A-G</a:t>
            </a:r>
            <a:r>
              <a:rPr kumimoji="1" lang="ja-JP" altLang="en-US" sz="2400" dirty="0"/>
              <a:t>」「</a:t>
            </a:r>
            <a:r>
              <a:rPr kumimoji="1" lang="en-US" altLang="ja-JP" sz="2400" dirty="0"/>
              <a:t>A-H</a:t>
            </a:r>
            <a:r>
              <a:rPr kumimoji="1" lang="ja-JP" altLang="en-US" sz="2400" dirty="0"/>
              <a:t>」までの最短コストから計算してみればよい</a:t>
            </a:r>
          </a:p>
        </p:txBody>
      </p:sp>
      <p:sp>
        <p:nvSpPr>
          <p:cNvPr id="64" name="右矢印 63"/>
          <p:cNvSpPr/>
          <p:nvPr/>
        </p:nvSpPr>
        <p:spPr>
          <a:xfrm>
            <a:off x="5724128" y="6021288"/>
            <a:ext cx="576064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/>
          <p:cNvSpPr txBox="1"/>
          <p:nvPr/>
        </p:nvSpPr>
        <p:spPr>
          <a:xfrm>
            <a:off x="6516216" y="6021288"/>
            <a:ext cx="19479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</a:t>
            </a:r>
            <a:r>
              <a:rPr kumimoji="1" lang="ja-JP" altLang="en-US" sz="2400" dirty="0"/>
              <a:t>経由だった</a:t>
            </a:r>
          </a:p>
        </p:txBody>
      </p:sp>
    </p:spTree>
    <p:extLst>
      <p:ext uri="{BB962C8B-B14F-4D97-AF65-F5344CB8AC3E}">
        <p14:creationId xmlns:p14="http://schemas.microsoft.com/office/powerpoint/2010/main" val="2212853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今日これだけは覚えて欲しい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323528" y="1484784"/>
            <a:ext cx="839204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世の中は</a:t>
            </a:r>
            <a:r>
              <a:rPr kumimoji="1" lang="ja-JP" altLang="en-US" sz="3200" dirty="0">
                <a:solidFill>
                  <a:srgbClr val="011893"/>
                </a:solidFill>
              </a:rPr>
              <a:t>最適化問題</a:t>
            </a:r>
            <a:r>
              <a:rPr kumimoji="1" lang="ja-JP" altLang="en-US" sz="3200" dirty="0"/>
              <a:t>に溢れている</a:t>
            </a:r>
            <a:endParaRPr kumimoji="1" lang="en-US" altLang="ja-JP" sz="3200" dirty="0"/>
          </a:p>
          <a:p>
            <a:r>
              <a:rPr lang="ja-JP" altLang="en-US" sz="3200" dirty="0">
                <a:solidFill>
                  <a:srgbClr val="011893"/>
                </a:solidFill>
              </a:rPr>
              <a:t>組み合わせ最適化問題</a:t>
            </a:r>
            <a:r>
              <a:rPr lang="ja-JP" altLang="en-US" sz="3200" dirty="0"/>
              <a:t>を厳密に解くのは困難</a:t>
            </a:r>
            <a:endParaRPr lang="en-US" altLang="ja-JP" sz="3200" dirty="0"/>
          </a:p>
          <a:p>
            <a:r>
              <a:rPr kumimoji="1" lang="ja-JP" altLang="en-US" sz="3200" dirty="0">
                <a:solidFill>
                  <a:srgbClr val="011893"/>
                </a:solidFill>
              </a:rPr>
              <a:t>近似</a:t>
            </a:r>
            <a:r>
              <a:rPr lang="ja-JP" altLang="en-US" sz="3200" dirty="0">
                <a:solidFill>
                  <a:srgbClr val="011893"/>
                </a:solidFill>
              </a:rPr>
              <a:t>解</a:t>
            </a:r>
            <a:r>
              <a:rPr lang="ja-JP" altLang="en-US" sz="3200" dirty="0"/>
              <a:t>を高速に得る方法がある</a:t>
            </a:r>
            <a:r>
              <a:rPr lang="en-US" altLang="ja-JP" sz="3200" dirty="0"/>
              <a:t>(</a:t>
            </a:r>
            <a:r>
              <a:rPr lang="ja-JP" altLang="en-US" sz="3200" dirty="0"/>
              <a:t>貪欲法等</a:t>
            </a:r>
            <a:r>
              <a:rPr lang="en-US" altLang="ja-JP" sz="3200" dirty="0"/>
              <a:t>)</a:t>
            </a:r>
          </a:p>
          <a:p>
            <a:endParaRPr lang="en-US" altLang="ja-JP" sz="3200" dirty="0"/>
          </a:p>
          <a:p>
            <a:r>
              <a:rPr kumimoji="1" lang="ja-JP" altLang="en-US" sz="3200" dirty="0"/>
              <a:t>動的計画法は</a:t>
            </a:r>
            <a:endParaRPr kumimoji="1" lang="en-US" altLang="ja-JP" sz="3200" dirty="0"/>
          </a:p>
          <a:p>
            <a:r>
              <a:rPr lang="ja-JP" altLang="en-US" sz="3200" dirty="0"/>
              <a:t>　・大きな問題が小さな問題に</a:t>
            </a:r>
            <a:r>
              <a:rPr lang="ja-JP" altLang="en-US" sz="3200" dirty="0">
                <a:solidFill>
                  <a:srgbClr val="FF0000"/>
                </a:solidFill>
              </a:rPr>
              <a:t>分解</a:t>
            </a:r>
            <a:r>
              <a:rPr lang="ja-JP" altLang="en-US" sz="3200" dirty="0"/>
              <a:t>できる</a:t>
            </a:r>
            <a:endParaRPr lang="en-US" altLang="ja-JP" sz="3200" dirty="0"/>
          </a:p>
          <a:p>
            <a:r>
              <a:rPr kumimoji="1" lang="ja-JP" altLang="en-US" sz="3200" dirty="0"/>
              <a:t>　・小さな問題の結果が</a:t>
            </a:r>
            <a:r>
              <a:rPr kumimoji="1" lang="ja-JP" altLang="en-US" sz="3200" dirty="0">
                <a:solidFill>
                  <a:srgbClr val="FF0000"/>
                </a:solidFill>
              </a:rPr>
              <a:t>再利用</a:t>
            </a:r>
            <a:r>
              <a:rPr kumimoji="1" lang="ja-JP" altLang="en-US" sz="3200" dirty="0"/>
              <a:t>できる</a:t>
            </a:r>
            <a:endParaRPr kumimoji="1" lang="en-US" altLang="ja-JP" sz="3200" dirty="0"/>
          </a:p>
          <a:p>
            <a:r>
              <a:rPr lang="ja-JP" altLang="en-US" sz="3200" dirty="0"/>
              <a:t>ことを利用して、効果的に厳密解を得る</a:t>
            </a:r>
            <a:endParaRPr kumimoji="1" lang="ja-JP" altLang="en-US" sz="3200" dirty="0"/>
          </a:p>
        </p:txBody>
      </p:sp>
    </p:spTree>
    <p:extLst>
      <p:ext uri="{BB962C8B-B14F-4D97-AF65-F5344CB8AC3E}">
        <p14:creationId xmlns:p14="http://schemas.microsoft.com/office/powerpoint/2010/main" val="504881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FD125CA-F2E9-B342-9322-DFB4B0D035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kumimoji="1" lang="en-US" altLang="ja-JP" dirty="0"/>
              <a:t>1</a:t>
            </a:r>
            <a:r>
              <a:rPr kumimoji="1" lang="ja-JP" altLang="en-US" dirty="0"/>
              <a:t>：サイゼリヤ問題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578586-4488-6E47-94A1-ACE2BD5D2D5B}"/>
              </a:ext>
            </a:extLst>
          </p:cNvPr>
          <p:cNvSpPr txBox="1"/>
          <p:nvPr/>
        </p:nvSpPr>
        <p:spPr>
          <a:xfrm>
            <a:off x="611560" y="1124744"/>
            <a:ext cx="798167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N</a:t>
            </a:r>
            <a:r>
              <a:rPr kumimoji="1" lang="ja-JP" altLang="en-US" sz="3200" dirty="0"/>
              <a:t>円持ってサイゼリヤに行ったら</a:t>
            </a:r>
            <a:endParaRPr kumimoji="1" lang="en-US" altLang="ja-JP" sz="3200" dirty="0"/>
          </a:p>
          <a:p>
            <a:r>
              <a:rPr lang="ja-JP" altLang="en-US" sz="3200" dirty="0"/>
              <a:t>最大でどれだけカロリーを摂取できるか？</a:t>
            </a:r>
            <a:endParaRPr kumimoji="1" lang="ja-JP" altLang="en-US" sz="32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1F1F59B-30FC-9C4A-95DA-F3708F7D3E69}"/>
              </a:ext>
            </a:extLst>
          </p:cNvPr>
          <p:cNvSpPr txBox="1"/>
          <p:nvPr/>
        </p:nvSpPr>
        <p:spPr>
          <a:xfrm>
            <a:off x="1115616" y="4509120"/>
            <a:ext cx="66479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/>
              <a:t>・同じメニューを二度選んではいけない</a:t>
            </a:r>
            <a:endParaRPr lang="en-US" altLang="ja-JP" sz="2800"/>
          </a:p>
          <a:p>
            <a:r>
              <a:rPr kumimoji="1" lang="ja-JP" altLang="en-US" sz="2800"/>
              <a:t>・ドリンクバー</a:t>
            </a:r>
            <a:r>
              <a:rPr lang="ja-JP" altLang="en-US" sz="2800"/>
              <a:t>やガムシロップ等</a:t>
            </a:r>
            <a:r>
              <a:rPr kumimoji="1" lang="ja-JP" altLang="en-US" sz="2800"/>
              <a:t>も禁止</a:t>
            </a:r>
            <a:endParaRPr kumimoji="1" lang="en-US" altLang="ja-JP" sz="280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08915F0-A737-6447-9AE9-B819407E9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2564904"/>
            <a:ext cx="1080120" cy="130135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D45EA62-6870-9745-B0AB-1306E053BD33}"/>
              </a:ext>
            </a:extLst>
          </p:cNvPr>
          <p:cNvSpPr txBox="1"/>
          <p:nvPr/>
        </p:nvSpPr>
        <p:spPr>
          <a:xfrm>
            <a:off x="611560" y="3861048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/>
              <a:t>条件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87624" y="6165304"/>
            <a:ext cx="68531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※ </a:t>
            </a:r>
            <a:r>
              <a:rPr kumimoji="1" lang="ja-JP" altLang="en-US" sz="2000" dirty="0"/>
              <a:t>メニュー「幸せ度」はカロリーに比例すると近似する</a:t>
            </a:r>
          </a:p>
        </p:txBody>
      </p:sp>
    </p:spTree>
    <p:extLst>
      <p:ext uri="{BB962C8B-B14F-4D97-AF65-F5344CB8AC3E}">
        <p14:creationId xmlns:p14="http://schemas.microsoft.com/office/powerpoint/2010/main" val="2573259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1-2</a:t>
            </a:r>
            <a:r>
              <a:rPr lang="ja-JP" altLang="en-US" dirty="0"/>
              <a:t>：貪欲法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79512" y="2132856"/>
            <a:ext cx="357020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彩りガーデンサラダ</a:t>
            </a:r>
            <a:endParaRPr lang="en-US" altLang="ja-JP" sz="2400" dirty="0"/>
          </a:p>
          <a:p>
            <a:r>
              <a:rPr lang="ja-JP" altLang="en-US" sz="2400" dirty="0"/>
              <a:t>小エビのサラダ</a:t>
            </a:r>
            <a:endParaRPr lang="en-US" altLang="ja-JP" sz="2400" dirty="0"/>
          </a:p>
          <a:p>
            <a:r>
              <a:rPr kumimoji="1" lang="ja-JP" altLang="en-US" sz="2400" dirty="0"/>
              <a:t>やわらかチキンのサラダ</a:t>
            </a:r>
            <a:endParaRPr kumimoji="1" lang="en-US" altLang="ja-JP" sz="2400" dirty="0"/>
          </a:p>
          <a:p>
            <a:r>
              <a:rPr lang="ja-JP" altLang="en-US" sz="2400" dirty="0"/>
              <a:t>イタリアンサラダ</a:t>
            </a:r>
            <a:endParaRPr lang="en-US" altLang="ja-JP" sz="2400" dirty="0"/>
          </a:p>
          <a:p>
            <a:r>
              <a:rPr kumimoji="1" lang="ja-JP" altLang="en-US" sz="2400" dirty="0"/>
              <a:t>・・・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779912" y="2132856"/>
            <a:ext cx="103906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299 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lang="en-US" altLang="ja-JP" sz="2400" dirty="0"/>
              <a:t>349 </a:t>
            </a:r>
            <a:r>
              <a:rPr lang="ja-JP" altLang="en-US" sz="2400" dirty="0"/>
              <a:t>円</a:t>
            </a:r>
            <a:endParaRPr lang="en-US" altLang="ja-JP" sz="2400" dirty="0"/>
          </a:p>
          <a:p>
            <a:r>
              <a:rPr kumimoji="1" lang="en-US" altLang="ja-JP" sz="2400" dirty="0"/>
              <a:t>299 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lang="en-US" altLang="ja-JP" sz="2400" dirty="0"/>
              <a:t>299 </a:t>
            </a:r>
            <a:r>
              <a:rPr lang="ja-JP" altLang="en-US" sz="2400" dirty="0"/>
              <a:t>円</a:t>
            </a:r>
            <a:endParaRPr kumimoji="1" lang="ja-JP" altLang="en-US" sz="24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160009" y="2132856"/>
            <a:ext cx="122822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130</a:t>
            </a:r>
            <a:r>
              <a:rPr kumimoji="1" lang="en-US" altLang="ja-JP" sz="2400" dirty="0"/>
              <a:t> kcal</a:t>
            </a:r>
          </a:p>
          <a:p>
            <a:r>
              <a:rPr lang="en-US" altLang="ja-JP" sz="2400" dirty="0"/>
              <a:t>115 kcal</a:t>
            </a:r>
          </a:p>
          <a:p>
            <a:r>
              <a:rPr lang="en-US" altLang="ja-JP" sz="2400" dirty="0"/>
              <a:t>134 kcal</a:t>
            </a:r>
            <a:endParaRPr kumimoji="1" lang="en-US" altLang="ja-JP" sz="2400" dirty="0"/>
          </a:p>
          <a:p>
            <a:r>
              <a:rPr lang="en-US" altLang="ja-JP" sz="2400" dirty="0"/>
              <a:t>  92 kcal</a:t>
            </a:r>
            <a:endParaRPr kumimoji="1" lang="ja-JP" altLang="en-US" sz="24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584139" y="2132856"/>
            <a:ext cx="18277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0.435</a:t>
            </a:r>
            <a:r>
              <a:rPr kumimoji="1" lang="en-US" altLang="ja-JP" sz="2400" dirty="0"/>
              <a:t> kcal/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lang="en-US" altLang="ja-JP" sz="2400" dirty="0"/>
              <a:t>0.330 kcal/</a:t>
            </a:r>
            <a:r>
              <a:rPr lang="ja-JP" altLang="en-US" sz="2400" dirty="0"/>
              <a:t>円</a:t>
            </a:r>
            <a:endParaRPr lang="en-US" altLang="ja-JP" sz="2400" dirty="0"/>
          </a:p>
          <a:p>
            <a:r>
              <a:rPr kumimoji="1" lang="en-US" altLang="ja-JP" sz="2400" dirty="0"/>
              <a:t>0.448 kcal/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kumimoji="1" lang="en-US" altLang="ja-JP" sz="2400" dirty="0"/>
              <a:t>0.307 kcal/</a:t>
            </a:r>
            <a:r>
              <a:rPr kumimoji="1" lang="ja-JP" altLang="en-US" sz="2400" dirty="0"/>
              <a:t>円</a:t>
            </a:r>
          </a:p>
        </p:txBody>
      </p:sp>
      <p:sp>
        <p:nvSpPr>
          <p:cNvPr id="7" name="下矢印 6"/>
          <p:cNvSpPr/>
          <p:nvPr/>
        </p:nvSpPr>
        <p:spPr>
          <a:xfrm>
            <a:off x="1331640" y="4149080"/>
            <a:ext cx="648072" cy="576064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79512" y="4869160"/>
            <a:ext cx="35589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ラージライス</a:t>
            </a:r>
            <a:endParaRPr lang="en-US" altLang="ja-JP" sz="2400" dirty="0"/>
          </a:p>
          <a:p>
            <a:r>
              <a:rPr lang="ja-JP" altLang="en-US" sz="2400" dirty="0"/>
              <a:t>アーリオ・オーリオ </a:t>
            </a:r>
            <a:r>
              <a:rPr lang="en-US" altLang="ja-JP" sz="2400" dirty="0"/>
              <a:t>(W)</a:t>
            </a:r>
          </a:p>
          <a:p>
            <a:r>
              <a:rPr lang="ja-JP" altLang="en-US" sz="2400" dirty="0"/>
              <a:t>・・・</a:t>
            </a:r>
            <a:endParaRPr lang="en-US" altLang="ja-JP" sz="2400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3779912" y="4869160"/>
            <a:ext cx="10390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219 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lang="en-US" altLang="ja-JP" sz="2400" dirty="0"/>
              <a:t>574 </a:t>
            </a:r>
            <a:r>
              <a:rPr lang="ja-JP" altLang="en-US" sz="2400" dirty="0"/>
              <a:t>円</a:t>
            </a:r>
            <a:endParaRPr lang="en-US" altLang="ja-JP" sz="2400" dirty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5006120" y="4869160"/>
            <a:ext cx="13821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  454</a:t>
            </a:r>
            <a:r>
              <a:rPr kumimoji="1" lang="en-US" altLang="ja-JP" sz="2400" dirty="0"/>
              <a:t> kcal</a:t>
            </a:r>
          </a:p>
          <a:p>
            <a:r>
              <a:rPr lang="en-US" altLang="ja-JP" sz="2400" dirty="0"/>
              <a:t>1120 kcal</a:t>
            </a: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6738027" y="4869160"/>
            <a:ext cx="16738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2.07 </a:t>
            </a:r>
            <a:r>
              <a:rPr kumimoji="1" lang="en-US" altLang="ja-JP" sz="2400" dirty="0"/>
              <a:t>kcal/</a:t>
            </a:r>
            <a:r>
              <a:rPr kumimoji="1" lang="ja-JP" altLang="en-US" sz="2400" dirty="0"/>
              <a:t>円</a:t>
            </a:r>
            <a:endParaRPr kumimoji="1" lang="en-US" altLang="ja-JP" sz="2400" dirty="0"/>
          </a:p>
          <a:p>
            <a:r>
              <a:rPr lang="en-US" altLang="ja-JP" sz="2400" dirty="0"/>
              <a:t>1.95 kcal/</a:t>
            </a:r>
            <a:r>
              <a:rPr lang="ja-JP" altLang="en-US" sz="2400" dirty="0"/>
              <a:t>円</a:t>
            </a:r>
            <a:endParaRPr lang="en-US" altLang="ja-JP" sz="2400" dirty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483768" y="4149080"/>
            <a:ext cx="6408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「価格あたりのカロリーが高い順」に並べる</a:t>
            </a: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71800" y="6093296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一番上</a:t>
            </a:r>
            <a:r>
              <a:rPr lang="ja-JP" altLang="en-US" sz="2800" dirty="0"/>
              <a:t>から、予算が許す限り選ぶ</a:t>
            </a:r>
            <a:endParaRPr kumimoji="1" lang="ja-JP" altLang="en-US" sz="2800" dirty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1331640" y="11967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品目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3923928" y="119675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価格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5076056" y="1196752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カロリー</a:t>
            </a:r>
            <a:endParaRPr kumimoji="1" lang="ja-JP" altLang="en-US" sz="2400" dirty="0">
              <a:solidFill>
                <a:srgbClr val="011893"/>
              </a:solidFill>
            </a:endParaRP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6588224" y="1196752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>
                <a:solidFill>
                  <a:srgbClr val="011893"/>
                </a:solidFill>
              </a:rPr>
              <a:t>価格あたりの</a:t>
            </a:r>
            <a:endParaRPr lang="en-US" altLang="ja-JP" sz="2400" dirty="0">
              <a:solidFill>
                <a:srgbClr val="011893"/>
              </a:solidFill>
            </a:endParaRPr>
          </a:p>
          <a:p>
            <a:r>
              <a:rPr kumimoji="1" lang="ja-JP" altLang="en-US" sz="2400" dirty="0">
                <a:solidFill>
                  <a:srgbClr val="011893"/>
                </a:solidFill>
              </a:rPr>
              <a:t>カロリー</a:t>
            </a:r>
          </a:p>
        </p:txBody>
      </p:sp>
    </p:spTree>
    <p:extLst>
      <p:ext uri="{BB962C8B-B14F-4D97-AF65-F5344CB8AC3E}">
        <p14:creationId xmlns:p14="http://schemas.microsoft.com/office/powerpoint/2010/main" val="1710589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課題</a:t>
            </a:r>
            <a:r>
              <a:rPr lang="en-US" altLang="ja-JP" dirty="0"/>
              <a:t>1-3</a:t>
            </a:r>
            <a:r>
              <a:rPr lang="ja-JP" altLang="en-US" dirty="0"/>
              <a:t>：全探索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835696" y="980728"/>
            <a:ext cx="6186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600" dirty="0"/>
              <a:t>全探索は「トーナメント式」</a:t>
            </a:r>
          </a:p>
        </p:txBody>
      </p:sp>
      <p:pic>
        <p:nvPicPr>
          <p:cNvPr id="2050" name="Picture 2" descr="勝った人のイラスト（女性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66124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勝った人のイラスト（男性）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66124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負けた人のイラスト（女性）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566124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負けた人のイラスト（男性）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7368" y="5661248"/>
            <a:ext cx="998528" cy="99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勝った人のイラスト（女性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422108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負けた人のイラスト（男性）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216" y="4221088"/>
            <a:ext cx="998528" cy="998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" descr="勝った人のイラスト（女性）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2780928"/>
            <a:ext cx="1008112" cy="1008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カギ線コネクタ 13"/>
          <p:cNvCxnSpPr>
            <a:stCxn id="21" idx="2"/>
            <a:endCxn id="19" idx="0"/>
          </p:cNvCxnSpPr>
          <p:nvPr/>
        </p:nvCxnSpPr>
        <p:spPr>
          <a:xfrm rot="5400000">
            <a:off x="3167844" y="2816932"/>
            <a:ext cx="432048" cy="2376264"/>
          </a:xfrm>
          <a:prstGeom prst="bentConnector3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カギ線コネクタ 15"/>
          <p:cNvCxnSpPr>
            <a:stCxn id="21" idx="2"/>
            <a:endCxn id="20" idx="0"/>
          </p:cNvCxnSpPr>
          <p:nvPr/>
        </p:nvCxnSpPr>
        <p:spPr>
          <a:xfrm rot="16200000" flipH="1">
            <a:off x="5577716" y="2783324"/>
            <a:ext cx="432048" cy="244348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カギ線コネクタ 22"/>
          <p:cNvCxnSpPr>
            <a:stCxn id="19" idx="2"/>
            <a:endCxn id="2050" idx="0"/>
          </p:cNvCxnSpPr>
          <p:nvPr/>
        </p:nvCxnSpPr>
        <p:spPr>
          <a:xfrm rot="5400000">
            <a:off x="1475656" y="4941168"/>
            <a:ext cx="504056" cy="936104"/>
          </a:xfrm>
          <a:prstGeom prst="bentConnector3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カギ線コネクタ 24"/>
          <p:cNvCxnSpPr>
            <a:stCxn id="19" idx="2"/>
            <a:endCxn id="2056" idx="0"/>
          </p:cNvCxnSpPr>
          <p:nvPr/>
        </p:nvCxnSpPr>
        <p:spPr>
          <a:xfrm rot="16200000" flipH="1">
            <a:off x="2414156" y="4938772"/>
            <a:ext cx="504056" cy="94089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カギ線コネクタ 26"/>
          <p:cNvCxnSpPr>
            <a:stCxn id="20" idx="2"/>
            <a:endCxn id="2052" idx="0"/>
          </p:cNvCxnSpPr>
          <p:nvPr/>
        </p:nvCxnSpPr>
        <p:spPr>
          <a:xfrm rot="5400000">
            <a:off x="6257000" y="4902768"/>
            <a:ext cx="513640" cy="1003320"/>
          </a:xfrm>
          <a:prstGeom prst="bentConnector3">
            <a:avLst/>
          </a:prstGeom>
          <a:ln w="5715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/>
          <p:cNvCxnSpPr>
            <a:stCxn id="20" idx="2"/>
            <a:endCxn id="2054" idx="0"/>
          </p:cNvCxnSpPr>
          <p:nvPr/>
        </p:nvCxnSpPr>
        <p:spPr>
          <a:xfrm rot="16200000" flipH="1">
            <a:off x="7301116" y="4861972"/>
            <a:ext cx="513640" cy="1084912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2339752" y="1772816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「予算オーバー」なら不戦敗</a:t>
            </a:r>
            <a:endParaRPr lang="en-US" altLang="ja-JP" sz="2000" dirty="0"/>
          </a:p>
          <a:p>
            <a:r>
              <a:rPr lang="ja-JP" altLang="en-US" sz="2000" dirty="0"/>
              <a:t>予算内なら総カロリーが高い方が勝ち</a:t>
            </a:r>
            <a:endParaRPr kumimoji="1" lang="ja-JP" altLang="en-US" sz="2000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899592" y="335699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あるメニューを選ぶ場合</a:t>
            </a:r>
            <a:endParaRPr kumimoji="1" lang="en-US" altLang="ja-JP" dirty="0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5796136" y="33569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選ばない場合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8545300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課題</a:t>
            </a:r>
            <a:r>
              <a:rPr lang="en-US" altLang="ja-JP" dirty="0"/>
              <a:t>1-4</a:t>
            </a:r>
            <a:r>
              <a:rPr lang="ja-JP" altLang="en-US" dirty="0"/>
              <a:t>：動的計画法</a:t>
            </a:r>
            <a:r>
              <a:rPr lang="en-US" altLang="ja-JP" dirty="0"/>
              <a:t>(</a:t>
            </a:r>
            <a:r>
              <a:rPr lang="ja-JP" altLang="en-US" dirty="0"/>
              <a:t>メモ化再帰</a:t>
            </a:r>
            <a:r>
              <a:rPr lang="en-US" altLang="ja-JP" dirty="0"/>
              <a:t>)</a:t>
            </a:r>
            <a:endParaRPr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539552" y="2708920"/>
            <a:ext cx="70166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n </a:t>
            </a:r>
            <a:r>
              <a:rPr lang="ja-JP" altLang="en-US" sz="2800" dirty="0"/>
              <a:t>番目までのメニューの範囲で、</a:t>
            </a:r>
            <a:endParaRPr lang="en-US" altLang="ja-JP" sz="2800" dirty="0"/>
          </a:p>
          <a:p>
            <a:r>
              <a:rPr lang="en-US" altLang="ja-JP" sz="2800" dirty="0"/>
              <a:t>budget </a:t>
            </a:r>
            <a:r>
              <a:rPr lang="ja-JP" altLang="en-US" sz="2800" dirty="0"/>
              <a:t>円以下で最大のカロリーを返す関数</a:t>
            </a:r>
            <a:endParaRPr lang="en-US" altLang="ja-JP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539552" y="1412776"/>
            <a:ext cx="59298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全探索の関数はこんな形をしていた</a:t>
            </a:r>
            <a:endParaRPr kumimoji="1" lang="ja-JP" altLang="en-US" sz="2800" dirty="0"/>
          </a:p>
        </p:txBody>
      </p:sp>
      <p:sp>
        <p:nvSpPr>
          <p:cNvPr id="7" name="正方形/長方形 6"/>
          <p:cNvSpPr/>
          <p:nvPr/>
        </p:nvSpPr>
        <p:spPr>
          <a:xfrm>
            <a:off x="1835696" y="1988840"/>
            <a:ext cx="44903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600">
                <a:solidFill>
                  <a:srgbClr val="B1108E"/>
                </a:solidFill>
                <a:latin typeface="Consolas" panose="020B0609020204030204" pitchFamily="49" charset="0"/>
              </a:rPr>
              <a:t>search</a:t>
            </a:r>
            <a:r>
              <a:rPr lang="en-US" altLang="ja-JP" sz="3600" i="1">
                <a:solidFill>
                  <a:srgbClr val="0460B1"/>
                </a:solidFill>
                <a:latin typeface="Consolas" panose="020B0609020204030204" pitchFamily="49" charset="0"/>
              </a:rPr>
              <a:t>(</a:t>
            </a:r>
            <a:r>
              <a:rPr lang="en-US" altLang="ja-JP" sz="3600">
                <a:solidFill>
                  <a:srgbClr val="B1108E"/>
                </a:solidFill>
                <a:latin typeface="Consolas" panose="020B0609020204030204" pitchFamily="49" charset="0"/>
              </a:rPr>
              <a:t>n</a:t>
            </a:r>
            <a:r>
              <a:rPr lang="en-US" altLang="ja-JP" sz="3600" i="1">
                <a:solidFill>
                  <a:srgbClr val="0460B1"/>
                </a:solidFill>
                <a:latin typeface="Consolas" panose="020B0609020204030204" pitchFamily="49" charset="0"/>
              </a:rPr>
              <a:t>, </a:t>
            </a:r>
            <a:r>
              <a:rPr lang="en-US" altLang="ja-JP" sz="3600">
                <a:solidFill>
                  <a:srgbClr val="B1108E"/>
                </a:solidFill>
                <a:latin typeface="Consolas" panose="020B0609020204030204" pitchFamily="49" charset="0"/>
              </a:rPr>
              <a:t>budget</a:t>
            </a:r>
            <a:r>
              <a:rPr lang="en-US" altLang="ja-JP" sz="3600" i="1">
                <a:solidFill>
                  <a:srgbClr val="0460B1"/>
                </a:solidFill>
                <a:latin typeface="Consolas" panose="020B0609020204030204" pitchFamily="49" charset="0"/>
              </a:rPr>
              <a:t>)</a:t>
            </a:r>
            <a:endParaRPr lang="en-US" altLang="ja-JP" sz="3600" b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67544" y="4293096"/>
            <a:ext cx="81877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同じ</a:t>
            </a:r>
            <a:r>
              <a:rPr kumimoji="1" lang="en-US" altLang="ja-JP" sz="2800" dirty="0"/>
              <a:t>(n, budget)</a:t>
            </a:r>
            <a:r>
              <a:rPr kumimoji="1" lang="ja-JP" altLang="en-US" sz="2800" dirty="0"/>
              <a:t>を与えられたら、同じ値を返すはず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331640" y="5229200"/>
            <a:ext cx="7596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一回計算したら、次から再利用できる</a:t>
            </a:r>
            <a:r>
              <a:rPr kumimoji="1" lang="en-US" altLang="ja-JP" sz="2800" dirty="0"/>
              <a:t>(</a:t>
            </a:r>
            <a:r>
              <a:rPr kumimoji="1" lang="ja-JP" altLang="en-US" sz="2800" dirty="0"/>
              <a:t>メモ化</a:t>
            </a:r>
            <a:r>
              <a:rPr kumimoji="1" lang="en-US" altLang="ja-JP" sz="2800" dirty="0"/>
              <a:t>)</a:t>
            </a:r>
            <a:endParaRPr kumimoji="1" lang="ja-JP" altLang="en-US" sz="2800" dirty="0"/>
          </a:p>
        </p:txBody>
      </p:sp>
      <p:sp>
        <p:nvSpPr>
          <p:cNvPr id="10" name="右矢印 9"/>
          <p:cNvSpPr/>
          <p:nvPr/>
        </p:nvSpPr>
        <p:spPr>
          <a:xfrm>
            <a:off x="611560" y="5229200"/>
            <a:ext cx="576064" cy="4846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8402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発展課題：解の再構成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59632" y="3140968"/>
            <a:ext cx="66575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 dirty="0"/>
              <a:t>n </a:t>
            </a:r>
            <a:r>
              <a:rPr lang="ja-JP" altLang="en-US" sz="2800" dirty="0"/>
              <a:t>番目までのメニューの範囲で、</a:t>
            </a:r>
            <a:endParaRPr lang="en-US" altLang="ja-JP" sz="2800" dirty="0"/>
          </a:p>
          <a:p>
            <a:r>
              <a:rPr lang="en-US" altLang="ja-JP" sz="2800" dirty="0"/>
              <a:t>budget </a:t>
            </a:r>
            <a:r>
              <a:rPr lang="ja-JP" altLang="en-US" sz="2800" dirty="0"/>
              <a:t>円以下で得られる最大のカロリー</a:t>
            </a:r>
            <a:endParaRPr lang="en-US" altLang="ja-JP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611560" y="1268760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計算が終わっ</a:t>
            </a:r>
            <a:r>
              <a:rPr lang="ja-JP" altLang="en-US" sz="3200" dirty="0"/>
              <a:t>て得られる辞書</a:t>
            </a:r>
            <a:endParaRPr kumimoji="1" lang="ja-JP" altLang="en-US" sz="3200" dirty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683568" y="4221088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dirty="0"/>
              <a:t>の情報が入っている</a:t>
            </a:r>
            <a:endParaRPr kumimoji="1" lang="en-US" altLang="ja-JP" sz="3200" dirty="0"/>
          </a:p>
        </p:txBody>
      </p:sp>
      <p:sp>
        <p:nvSpPr>
          <p:cNvPr id="8" name="正方形/長方形 7"/>
          <p:cNvSpPr/>
          <p:nvPr/>
        </p:nvSpPr>
        <p:spPr>
          <a:xfrm>
            <a:off x="1547664" y="2060848"/>
            <a:ext cx="3801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>
                <a:solidFill>
                  <a:srgbClr val="0460B1"/>
                </a:solidFill>
                <a:latin typeface="Consolas" panose="020B0609020204030204" pitchFamily="49" charset="0"/>
              </a:rPr>
              <a:t>dic</a:t>
            </a:r>
            <a:r>
              <a:rPr lang="en-US" altLang="ja-JP" sz="3200" dirty="0">
                <a:solidFill>
                  <a:srgbClr val="0460B1"/>
                </a:solidFill>
                <a:latin typeface="Consolas" panose="020B0609020204030204" pitchFamily="49" charset="0"/>
              </a:rPr>
              <a:t>[(n, budget)]</a:t>
            </a:r>
            <a:endParaRPr lang="en-US" altLang="ja-JP" sz="3200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683568" y="2636912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dirty="0"/>
              <a:t>には、</a:t>
            </a:r>
          </a:p>
        </p:txBody>
      </p:sp>
    </p:spTree>
    <p:extLst>
      <p:ext uri="{BB962C8B-B14F-4D97-AF65-F5344CB8AC3E}">
        <p14:creationId xmlns:p14="http://schemas.microsoft.com/office/powerpoint/2010/main" val="64200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発展課題：解の再構成</a:t>
            </a:r>
          </a:p>
        </p:txBody>
      </p:sp>
      <p:sp>
        <p:nvSpPr>
          <p:cNvPr id="3" name="テキスト ボックス 2"/>
          <p:cNvSpPr txBox="1"/>
          <p:nvPr/>
        </p:nvSpPr>
        <p:spPr>
          <a:xfrm>
            <a:off x="179512" y="1340768"/>
            <a:ext cx="88120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もし</a:t>
            </a:r>
            <a:r>
              <a:rPr lang="en-US" altLang="ja-JP" sz="2800" dirty="0">
                <a:solidFill>
                  <a:srgbClr val="011893"/>
                </a:solidFill>
              </a:rPr>
              <a:t>budget</a:t>
            </a:r>
            <a:r>
              <a:rPr lang="en-US" altLang="ja-JP" sz="2800" dirty="0"/>
              <a:t> </a:t>
            </a:r>
            <a:r>
              <a:rPr lang="ja-JP" altLang="en-US" sz="2800" dirty="0"/>
              <a:t>円以下で得られる最大カロリーメニューに</a:t>
            </a:r>
            <a:endParaRPr lang="en-US" altLang="ja-JP" sz="2800" dirty="0"/>
          </a:p>
          <a:p>
            <a:r>
              <a:rPr lang="en-US" altLang="ja-JP" sz="2800" dirty="0"/>
              <a:t>n</a:t>
            </a:r>
            <a:r>
              <a:rPr lang="ja-JP" altLang="en-US" sz="2800" dirty="0"/>
              <a:t>番目のメニューが入っていなければ</a:t>
            </a:r>
            <a:endParaRPr lang="en-US" altLang="ja-JP" sz="2800" dirty="0"/>
          </a:p>
        </p:txBody>
      </p:sp>
      <p:sp>
        <p:nvSpPr>
          <p:cNvPr id="4" name="正方形/長方形 3"/>
          <p:cNvSpPr/>
          <p:nvPr/>
        </p:nvSpPr>
        <p:spPr>
          <a:xfrm>
            <a:off x="251520" y="2780928"/>
            <a:ext cx="42530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>
                <a:solidFill>
                  <a:srgbClr val="0460B1"/>
                </a:solidFill>
                <a:latin typeface="Consolas" panose="020B0609020204030204" pitchFamily="49" charset="0"/>
              </a:rPr>
              <a:t>dic</a:t>
            </a:r>
            <a:r>
              <a:rPr lang="en-US" altLang="ja-JP" sz="3200" dirty="0">
                <a:solidFill>
                  <a:srgbClr val="0460B1"/>
                </a:solidFill>
                <a:latin typeface="Consolas" panose="020B0609020204030204" pitchFamily="49" charset="0"/>
              </a:rPr>
              <a:t>[(n-1, budget)]</a:t>
            </a:r>
            <a:endParaRPr lang="en-US" altLang="ja-JP" sz="3200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251520" y="3356992"/>
            <a:ext cx="38010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3200" dirty="0" err="1">
                <a:solidFill>
                  <a:srgbClr val="0460B1"/>
                </a:solidFill>
                <a:latin typeface="Consolas" panose="020B0609020204030204" pitchFamily="49" charset="0"/>
              </a:rPr>
              <a:t>dic</a:t>
            </a:r>
            <a:r>
              <a:rPr lang="en-US" altLang="ja-JP" sz="3200" dirty="0">
                <a:solidFill>
                  <a:srgbClr val="0460B1"/>
                </a:solidFill>
                <a:latin typeface="Consolas" panose="020B0609020204030204" pitchFamily="49" charset="0"/>
              </a:rPr>
              <a:t>[(n, budget)]</a:t>
            </a:r>
            <a:endParaRPr lang="en-US" altLang="ja-JP" sz="3200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右中かっこ 6"/>
          <p:cNvSpPr/>
          <p:nvPr/>
        </p:nvSpPr>
        <p:spPr>
          <a:xfrm>
            <a:off x="4499992" y="2852936"/>
            <a:ext cx="288032" cy="1080120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4860032" y="3140968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これらが等しくなるはず</a:t>
            </a:r>
            <a:endParaRPr kumimoji="1" lang="ja-JP" altLang="en-US" sz="2800" dirty="0"/>
          </a:p>
        </p:txBody>
      </p:sp>
      <p:sp>
        <p:nvSpPr>
          <p:cNvPr id="41" name="テキスト ボックス 40"/>
          <p:cNvSpPr txBox="1"/>
          <p:nvPr/>
        </p:nvSpPr>
        <p:spPr>
          <a:xfrm>
            <a:off x="539552" y="4581128"/>
            <a:ext cx="83529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この事実を利用して、再帰的に</a:t>
            </a:r>
            <a:r>
              <a:rPr lang="ja-JP" altLang="en-US" sz="2400" dirty="0"/>
              <a:t>「最大カロリーメニューにこのメニューが含まれるか」を調べていく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6384556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F27F9D4-06B9-C6A7-9DB0-F316D143FA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暇で仕方ない人むけの課題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BBE3D79-779E-AEC4-0819-C139C14912E7}"/>
              </a:ext>
            </a:extLst>
          </p:cNvPr>
          <p:cNvSpPr txBox="1"/>
          <p:nvPr/>
        </p:nvSpPr>
        <p:spPr>
          <a:xfrm>
            <a:off x="395536" y="5877272"/>
            <a:ext cx="3352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Project Euler: Problem 31</a:t>
            </a:r>
            <a:r>
              <a:rPr kumimoji="1" lang="ja-JP" altLang="en-US" sz="1600" dirty="0"/>
              <a:t>より</a:t>
            </a:r>
            <a:endParaRPr lang="en-US" altLang="ja-JP" sz="1600" dirty="0"/>
          </a:p>
          <a:p>
            <a:r>
              <a:rPr kumimoji="1" lang="en-US" altLang="ja-JP" sz="1600" dirty="0"/>
              <a:t>https://projecteuler.net/problem=31</a:t>
            </a:r>
            <a:endParaRPr kumimoji="1" lang="ja-JP" altLang="en-US" sz="1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B54C129-77E4-BCB1-0C35-32B53173B4FE}"/>
              </a:ext>
            </a:extLst>
          </p:cNvPr>
          <p:cNvSpPr txBox="1"/>
          <p:nvPr/>
        </p:nvSpPr>
        <p:spPr>
          <a:xfrm>
            <a:off x="323528" y="1268760"/>
            <a:ext cx="82089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イギリスの硬貨はポンドとペンスがあり、一般的に流通している硬貨は以下の</a:t>
            </a:r>
            <a:r>
              <a:rPr lang="en-US" altLang="ja-JP" dirty="0"/>
              <a:t>8</a:t>
            </a:r>
            <a:r>
              <a:rPr lang="ja-JP" altLang="en-US" dirty="0"/>
              <a:t>種類である。</a:t>
            </a:r>
            <a:endParaRPr lang="en-US" altLang="ja-JP" dirty="0"/>
          </a:p>
          <a:p>
            <a:endParaRPr lang="en-US" altLang="ja-JP" dirty="0"/>
          </a:p>
          <a:p>
            <a:r>
              <a:rPr lang="en-US" altLang="ja-JP" dirty="0"/>
              <a:t>1p, 2p, 5p, 10p, 20p, 50p, 100p(1</a:t>
            </a:r>
            <a:r>
              <a:rPr lang="ja-JP" altLang="en-US" dirty="0"/>
              <a:t>ポンド</a:t>
            </a:r>
            <a:r>
              <a:rPr lang="en-US" altLang="ja-JP" dirty="0"/>
              <a:t>), 200p(2</a:t>
            </a:r>
            <a:r>
              <a:rPr lang="ja-JP" altLang="en-US" dirty="0"/>
              <a:t>ポンド</a:t>
            </a:r>
            <a:r>
              <a:rPr lang="en-US" altLang="ja-JP" dirty="0"/>
              <a:t>)</a:t>
            </a:r>
          </a:p>
          <a:p>
            <a:endParaRPr lang="en-US" altLang="ja-JP" dirty="0"/>
          </a:p>
          <a:p>
            <a:r>
              <a:rPr lang="ja-JP" altLang="en-US" dirty="0"/>
              <a:t>例えば</a:t>
            </a:r>
            <a:endParaRPr lang="en-US" altLang="ja-JP" dirty="0"/>
          </a:p>
          <a:p>
            <a:r>
              <a:rPr lang="en-US" altLang="ja-JP" dirty="0"/>
              <a:t>100p + 50p + 2x20p + 5p + 2p + 3 x 1p</a:t>
            </a:r>
          </a:p>
          <a:p>
            <a:r>
              <a:rPr lang="ja-JP" altLang="en-US" dirty="0"/>
              <a:t>で</a:t>
            </a:r>
            <a:r>
              <a:rPr lang="en-US" altLang="ja-JP" dirty="0"/>
              <a:t>2</a:t>
            </a:r>
            <a:r>
              <a:rPr lang="ja-JP" altLang="en-US" dirty="0"/>
              <a:t>ポンド</a:t>
            </a:r>
            <a:r>
              <a:rPr lang="en-US" altLang="ja-JP" dirty="0"/>
              <a:t>(200</a:t>
            </a:r>
            <a:r>
              <a:rPr lang="ja-JP" altLang="en-US" dirty="0"/>
              <a:t>ペンス</a:t>
            </a:r>
            <a:r>
              <a:rPr lang="en-US" altLang="ja-JP" dirty="0"/>
              <a:t>)</a:t>
            </a:r>
            <a:r>
              <a:rPr lang="ja-JP" altLang="en-US" dirty="0"/>
              <a:t>を作ることができる。</a:t>
            </a:r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これらの硬貨を使って</a:t>
            </a:r>
            <a:r>
              <a:rPr lang="en-US" altLang="ja-JP" dirty="0"/>
              <a:t>2</a:t>
            </a:r>
            <a:r>
              <a:rPr lang="ja-JP" altLang="en-US" dirty="0"/>
              <a:t>ポンド</a:t>
            </a:r>
            <a:r>
              <a:rPr lang="en-US" altLang="ja-JP" dirty="0"/>
              <a:t>(200</a:t>
            </a:r>
            <a:r>
              <a:rPr lang="ja-JP" altLang="en-US" dirty="0"/>
              <a:t>ペンス</a:t>
            </a:r>
            <a:r>
              <a:rPr lang="en-US" altLang="ja-JP" dirty="0"/>
              <a:t>)</a:t>
            </a:r>
            <a:r>
              <a:rPr lang="ja-JP" altLang="en-US" dirty="0"/>
              <a:t>を作る方法は何通りあるか？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52243985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7118</TotalTime>
  <Words>1705</Words>
  <Application>Microsoft Office PowerPoint</Application>
  <PresentationFormat>画面に合わせる (4:3)</PresentationFormat>
  <Paragraphs>419</Paragraphs>
  <Slides>34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34</vt:i4>
      </vt:variant>
    </vt:vector>
  </HeadingPairs>
  <TitlesOfParts>
    <vt:vector size="38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宙志 渡辺</cp:lastModifiedBy>
  <cp:revision>1373</cp:revision>
  <dcterms:created xsi:type="dcterms:W3CDTF">2019-01-02T05:23:01Z</dcterms:created>
  <dcterms:modified xsi:type="dcterms:W3CDTF">2024-12-24T07:55:15Z</dcterms:modified>
</cp:coreProperties>
</file>